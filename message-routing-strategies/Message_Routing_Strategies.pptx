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Abstract: A customer clicks "Confirm Order" on Black Friday, and five systems have to react. This talk follows that one order through the message broker to see how three routing strategies - direct, fanout, and topic - each answer the question of who gets a copy, and what each one costs. Then we break the same order on purpose: a slow subscriber that starves healthy ones, a message that fails forever, and a worker that dies mid-charge. You'll leave knowing how to pick a strategy, and why idempotent consumers are not optional.</a:t>
            </a:r>
          </a:p>
          <a:p/>
          <a:p>
            <a:pPr rtl="1" algn="r"/>
            <a:r>
              <a:t>10 דקות. השם הוא שאלה – ולכן כדאי לפתוח בה ולסגור אותה בשקף הסיכום: מי מקבל עותק, ומי מחליט.</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pPr rtl="1" algn="r"/>
            <a:r>
              <a:t>הפער שכדאי להצביע עליו: מימין ארבעה חוטים יוצאים מהשולח, משמאל אחד. זה כל הרעיון של ברוקר במשפט אחד.</a:t>
            </a:r>
          </a:p>
          <a:p>
            <a:pPr rtl="1" algn="r"/>
            <a:r>
              <a:t>אם שואלים 'ומה אם הברוקר נופל?' – זו נקודת כשל יחידה שמטפלים בה בשכפול, ובתמורה מקבלים שכל שאר השירותים מנותקים זה מזה.</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pPr rtl="1" algn="r"/>
            <a:r>
              <a:t>שקף התמצאות מהיר. אם מישהו שואל על טכנולוגיות אחרות – לומר שניתוב בצד השרת אינו מודל אוניברסלי, ולהמשיך.</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pPr rtl="1" algn="r"/>
            <a:r>
              <a:t>להדגיש שה-Worker אינו קשור ללקוח מסוים – הוא סתם זוג ידיים פנויות. זו ההנחה שמתפוצצת בשקף הבא.</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pPr rtl="1" algn="r"/>
            <a:r>
              <a:t>אנלוגיית הדלפק קודם, ורק אז הדיאגרמה. הנקודה: אף פקיד לא טעה – פשוט אף אחד לא היה אחראי על הסדר.</a:t>
            </a:r>
          </a:p>
          <a:p>
            <a:pPr rtl="1" algn="r"/>
            <a:r>
              <a:t>שני התנאים בתחתית הם העיקר, ואף אחד מהם לא מספיק לבדו: פיצול בלי Worker יחיד לכל תור מחזיר את הבעיה, ו-Worker יחיד בלי פיצול מוותר על המקביליות לגמרי.</a:t>
            </a:r>
          </a:p>
          <a:p>
            <a:pPr rtl="1" algn="r"/>
            <a:r>
              <a:t>המקביליות לא אבדה – היא עברה מלהיות בין הודעות של אותו לקוח, לבין לקוחות שונים.</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pPr rtl="1" algn="r"/>
            <a:r>
              <a:t>דיוק למי ששואל: 'עשר פעולות' אינן בהכרח עשר כתיבות של גוף ההודעה לדיסק – RabbitMQ שומר את הגוף פעם אחת ומחזיק הפניה בכל תור. מה שכן ליניארי בוודאות: ניהול התור לכל מנוי, והמסירה ברשת לכל צרכן בנפרד.</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pPr rtl="1" algn="r"/>
            <a:r>
              <a:t>שאלה צפויה: 'למה לא להוסיף עוד ברוקרים או רפליקות?' – זו בעיית קצב ולא בעיית קיבולת: מייצרים 1,000 ומעכלים 800, ולכן נצברות 200 בשנייה ללא חסם. להפריד שלושה דברים שנשמעים דומה: רפליקה היא עותק של אותו תור לזמינות – ולא רק שאינה עוזרת, היא מחמירה, כי כל הודעה נכתבת לכל העותקים. אשכול מחלק תורים שונים בין nodes, אך אינו מחלק תור בודד. ורק פיצול לפי מפתח באמת מחלק את העומס – אותו מנגנון שראינו בשקף של Direct. הקריטריון: מה שמוסיף קצב עיכול פותר, מה שמוסיף מקום אחסון רק דוחה.</a:t>
            </a:r>
          </a:p>
          <a:p/>
          <a:p>
            <a:pPr rtl="1" algn="r"/>
            <a:r>
              <a:t>אנלוגיה אם הבלבול חוזר: הברוקר הוא סניף הדואר, הצרכן הוא השליח שבא לאסוף. שליח איטי לא נחנק – החבילות נערמות במחסן של הסניף, ולסניף נגמרות המדפים.</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pPr rtl="1" algn="r"/>
            <a:r>
              <a:t>שאלה טובה לקהל לפני שחושפים את הטבלה: 'מה יתפוס order.*.south?' – התשובה מקבעת את ההבדל בין * ל-# בשנייה.</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pPr rtl="1" algn="r"/>
            <a:r>
              <a:t>הלקוח לוחץ 'אישור הזמנה'. שירות ההזמנות מפרסם ל-Exchange ולא מכיר אף תור. ה-Binding הוא המחרוזת orders.charge; עשרה Workers מושכים מהתור, וכל הודעה נמסרת לאחד בלבד. זו פקודה – יש לה בעל אחד.</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pPr rtl="1" algn="r"/>
            <a:r>
              <a:t>אותה הודעה, מסלול אחר: אין מפתח כלל, ועותק נכנס לכל תור מחובר. מנוי רביעי הוא Binding נוסף – בלי לגעת בשולח. זה אירוע, לא פקודה.</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pPr rtl="1" algn="r"/>
            <a:r>
              <a:t>ה-Binding כאן הוא תבנית: order.il.south.# תופס רק את הזמנות הדרום. המחסן בבאר שבע לא רואה הזמנות של אזורים אחרים.</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pPr rtl="1" algn="r"/>
            <a:r>
              <a:t>התמונה המלאה, אחרי שלושת שקפי הבנייה. המשפט לומר כאן: הזמנה אחת שנכנסה ב-14:03 הפעילה את שלוש האסטרטגיות ברצף – הן לא חלופות מתחרות. השולח כתב שורת פרסום אחת בלבד. השעה חשובה כי בשקף הבא חוזרים לאותה הזמנה שתי דקות מאוחר יותר.</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pPr rtl="1" algn="r"/>
            <a:r>
              <a:t>האנליטיקה מעכלת לאט. התור שלה תופח בזיכרון הברוקר, הברוקר מגיע לסף שלו וחוסם את היצרנים – וגם המחסן, שבריא לגמרי, מפסיק לקבל עבודה. ההגנה: prefetch נמוך.</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pPr rtl="1" algn="r"/>
            <a:r>
              <a:t>שירות ה-SMS נכשל, ההודעה חוזרת לתור ונכשלת שוב – וחוסמת את מה שמאחוריה. ההגנה: DLQ, ואחריו התראה. מה שיושב שם הוא רשימת התקלות של המערכת.</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pPr rtl="1" algn="r"/>
            <a:r>
              <a:t>ה-Worker חייב את הכרטיס ומת לפני ה-ack. הברוקר לא יודע שהעבודה בוצעה, ולכן ישלח את ההודעה שוב. זו ברירת המחדל at-least-once, ולא תקלה נדירה – ולכן כל צרכן חייב להיות אידמפוטנטי.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pPr rtl="1" algn="r"/>
            <a:r>
              <a:t>אותה תמונה בדיוק – ולכן אפשר לדבר במקום להסביר מחדש. המסר: כל תקלה כאן היא תוצאה ישירה של אסטרטגיית הניתוב שנבחרה. אלה לא מקרי קצה, אלה השבועיים הראשונים בפרודקשן.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pPr rtl="1" algn="r"/>
            <a:r>
              <a:t>אם נגמר הזמן – זה השקף שאפשר לקצר לשתי שניות ולעבור לסיכום.</a:t>
            </a:r>
          </a:p>
        </p:txBody>
      </p:sp>
      <p:sp>
        <p:nvSpPr>
          <p:cNvPr id="4" name="Slide Number Placeholder 3"/>
          <p:cNvSpPr>
            <a:spLocks noGrp="1"/>
          </p:cNvSpPr>
          <p:nvPr>
            <p:ph type="sldNum" idx="5" sz="quarter"/>
          </p:nvPr>
        </p:nvSpPr>
        <p:spPr/>
        <p:txBody>
          <a:body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377440"/>
            <a:ext cx="9448495" cy="2286000"/>
          </a:xfrm>
          <a:prstGeom prst="rect">
            <a:avLst/>
          </a:prstGeom>
          <a:noFill/>
        </p:spPr>
        <p:txBody>
          <a:bodyPr wrap="square">
            <a:spAutoFit/>
          </a:bodyPr>
          <a:lstStyle/>
          <a:p>
            <a:pPr algn="ctr">
              <a:defRPr sz="4800" b="1">
                <a:solidFill>
                  <a:srgbClr val="FFFFFF"/>
                </a:solidFill>
              </a:defRPr>
            </a:pPr>
            <a:r>
              <a:t>Who Gets the Copy?</a:t>
            </a:r>
          </a:p>
          <a:p>
            <a:pPr algn="ctr">
              <a:defRPr sz="2200">
                <a:solidFill>
                  <a:srgbClr val="007AFF"/>
                </a:solidFill>
              </a:defRPr>
            </a:pPr>
            <a:r>
              <a:t>Message Routing Strategies, told through one Black Friday order</a:t>
            </a:r>
          </a:p>
          <a:p>
            <a:pPr algn="ctr" rtl="1">
              <a:defRPr sz="1800">
                <a:solidFill>
                  <a:srgbClr val="FFFFFF"/>
                </a:solidFill>
              </a:defRPr>
            </a:pPr>
            <a:r>
              <a:t>איך הברוקר מחליט לאן הודעה הולכת – וכמה זה עולה לנו</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none">
            <a:spAutoFit/>
          </a:bodyPr>
          <a:lstStyle/>
          <a:p>
            <a:pPr algn="r" rtl="1">
              <a:defRPr sz="2800" b="1">
                <a:solidFill>
                  <a:srgbClr val="14233C"/>
                </a:solidFill>
              </a:defRPr>
            </a:pPr>
            <a:r>
              <a:t>הבעיה: למה בכלל צריך ניתוב?</a:t>
            </a:r>
          </a:p>
        </p:txBody>
      </p:sp>
      <p:sp>
        <p:nvSpPr>
          <p:cNvPr id="3" name="TextBox 2"/>
          <p:cNvSpPr txBox="1"/>
          <p:nvPr/>
        </p:nvSpPr>
        <p:spPr>
          <a:xfrm>
            <a:off x="640080" y="1225296"/>
            <a:ext cx="10911535" cy="548640"/>
          </a:xfrm>
          <a:prstGeom prst="rect">
            <a:avLst/>
          </a:prstGeom>
          <a:noFill/>
        </p:spPr>
        <p:txBody>
          <a:bodyPr wrap="square">
            <a:spAutoFit/>
          </a:bodyPr>
          <a:lstStyle/>
          <a:p>
            <a:pPr algn="r" rtl="1"/>
            <a:r>
              <a:rPr sz="1600" b="1">
                <a:solidFill>
                  <a:srgbClr val="007AFF"/>
                </a:solidFill>
              </a:rPr>
              <a:t>לקוח לוחץ 'אישור הזמנה'. </a:t>
            </a:r>
            <a:r>
              <a:rPr sz="1600">
                <a:solidFill>
                  <a:srgbClr val="282828"/>
                </a:solidFill>
              </a:rPr>
              <a:t>ארבע מערכות צריכות להגיב – חיוב, מלאי, מייל ואנליטיקה. השאלה היחידה היא מי אחראי לדעת מי הן.</a:t>
            </a:r>
          </a:p>
        </p:txBody>
      </p:sp>
      <p:sp>
        <p:nvSpPr>
          <p:cNvPr id="4" name="TextBox 3"/>
          <p:cNvSpPr txBox="1"/>
          <p:nvPr/>
        </p:nvSpPr>
        <p:spPr>
          <a:xfrm>
            <a:off x="6492240" y="1874519"/>
            <a:ext cx="5394960" cy="292608"/>
          </a:xfrm>
          <a:prstGeom prst="rect">
            <a:avLst/>
          </a:prstGeom>
          <a:noFill/>
        </p:spPr>
        <p:txBody>
          <a:bodyPr wrap="none">
            <a:spAutoFit/>
          </a:bodyPr>
          <a:lstStyle/>
          <a:p>
            <a:pPr algn="ctr" rtl="1">
              <a:defRPr sz="1300" b="1">
                <a:solidFill>
                  <a:srgbClr val="C53030"/>
                </a:solidFill>
              </a:defRPr>
            </a:pPr>
            <a:r>
              <a:t>בלי ברוקר: השולח מכיר כל נמען</a:t>
            </a:r>
          </a:p>
        </p:txBody>
      </p:sp>
      <p:sp>
        <p:nvSpPr>
          <p:cNvPr id="5" name="Rounded Rectangle 4"/>
          <p:cNvSpPr/>
          <p:nvPr/>
        </p:nvSpPr>
        <p:spPr>
          <a:xfrm>
            <a:off x="10424160" y="2880360"/>
            <a:ext cx="1463040" cy="914400"/>
          </a:xfrm>
          <a:prstGeom prst="roundRect">
            <a:avLst/>
          </a:prstGeom>
          <a:solidFill>
            <a:srgbClr val="FDEAEA"/>
          </a:solidFill>
          <a:ln w="12700">
            <a:solidFill>
              <a:srgbClr val="C5303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200" b="1">
                <a:solidFill>
                  <a:srgbClr val="C53030"/>
                </a:solidFill>
              </a:defRPr>
            </a:pPr>
            <a:r>
              <a:t>שירות ההזמנות</a:t>
            </a:r>
          </a:p>
          <a:p>
            <a:pPr algn="ctr" rtl="1">
              <a:defRPr sz="1000">
                <a:solidFill>
                  <a:srgbClr val="C53030"/>
                </a:solidFill>
              </a:defRPr>
            </a:pPr>
            <a:r>
              <a:t>מחזיק 4 כתובות</a:t>
            </a:r>
          </a:p>
        </p:txBody>
      </p:sp>
      <p:sp>
        <p:nvSpPr>
          <p:cNvPr id="6" name="Rounded Rectangle 5"/>
          <p:cNvSpPr/>
          <p:nvPr/>
        </p:nvSpPr>
        <p:spPr>
          <a:xfrm>
            <a:off x="6949440" y="2286000"/>
            <a:ext cx="1737360" cy="457200"/>
          </a:xfrm>
          <a:prstGeom prst="roundRect">
            <a:avLst/>
          </a:prstGeom>
          <a:solidFill>
            <a:srgbClr val="EEF1F5"/>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200" b="1">
                <a:solidFill>
                  <a:srgbClr val="14233C"/>
                </a:solidFill>
              </a:defRPr>
            </a:pPr>
            <a:r>
              <a:t>חיוב</a:t>
            </a:r>
          </a:p>
        </p:txBody>
      </p:sp>
      <p:sp>
        <p:nvSpPr>
          <p:cNvPr id="7" name="Left Arrow 6"/>
          <p:cNvSpPr/>
          <p:nvPr/>
        </p:nvSpPr>
        <p:spPr>
          <a:xfrm>
            <a:off x="8778240" y="2414016"/>
            <a:ext cx="1554480" cy="201168"/>
          </a:xfrm>
          <a:prstGeom prst="leftArrow">
            <a:avLst/>
          </a:prstGeom>
          <a:solidFill>
            <a:srgbClr val="C5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949440" y="2834640"/>
            <a:ext cx="1737360" cy="457200"/>
          </a:xfrm>
          <a:prstGeom prst="roundRect">
            <a:avLst/>
          </a:prstGeom>
          <a:solidFill>
            <a:srgbClr val="EEF1F5"/>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200" b="1">
                <a:solidFill>
                  <a:srgbClr val="14233C"/>
                </a:solidFill>
              </a:defRPr>
            </a:pPr>
            <a:r>
              <a:t>מלאי</a:t>
            </a:r>
          </a:p>
        </p:txBody>
      </p:sp>
      <p:sp>
        <p:nvSpPr>
          <p:cNvPr id="9" name="Left Arrow 8"/>
          <p:cNvSpPr/>
          <p:nvPr/>
        </p:nvSpPr>
        <p:spPr>
          <a:xfrm>
            <a:off x="8778240" y="2962656"/>
            <a:ext cx="1554480" cy="201168"/>
          </a:xfrm>
          <a:prstGeom prst="leftArrow">
            <a:avLst/>
          </a:prstGeom>
          <a:solidFill>
            <a:srgbClr val="C5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949440" y="3383280"/>
            <a:ext cx="1737360" cy="457200"/>
          </a:xfrm>
          <a:prstGeom prst="roundRect">
            <a:avLst/>
          </a:prstGeom>
          <a:solidFill>
            <a:srgbClr val="EEF1F5"/>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200" b="1">
                <a:solidFill>
                  <a:srgbClr val="14233C"/>
                </a:solidFill>
              </a:defRPr>
            </a:pPr>
            <a:r>
              <a:t>מייל</a:t>
            </a:r>
          </a:p>
        </p:txBody>
      </p:sp>
      <p:sp>
        <p:nvSpPr>
          <p:cNvPr id="11" name="Left Arrow 10"/>
          <p:cNvSpPr/>
          <p:nvPr/>
        </p:nvSpPr>
        <p:spPr>
          <a:xfrm>
            <a:off x="8778240" y="3511296"/>
            <a:ext cx="1554480" cy="201168"/>
          </a:xfrm>
          <a:prstGeom prst="leftArrow">
            <a:avLst/>
          </a:prstGeom>
          <a:solidFill>
            <a:srgbClr val="C5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949440" y="3931920"/>
            <a:ext cx="1737360" cy="457200"/>
          </a:xfrm>
          <a:prstGeom prst="roundRect">
            <a:avLst/>
          </a:prstGeom>
          <a:solidFill>
            <a:srgbClr val="EEF1F5"/>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200" b="1">
                <a:solidFill>
                  <a:srgbClr val="14233C"/>
                </a:solidFill>
              </a:defRPr>
            </a:pPr>
            <a:r>
              <a:t>אנליטיקה</a:t>
            </a:r>
          </a:p>
        </p:txBody>
      </p:sp>
      <p:sp>
        <p:nvSpPr>
          <p:cNvPr id="13" name="Left Arrow 12"/>
          <p:cNvSpPr/>
          <p:nvPr/>
        </p:nvSpPr>
        <p:spPr>
          <a:xfrm>
            <a:off x="8778240" y="4059935"/>
            <a:ext cx="1554480" cy="201168"/>
          </a:xfrm>
          <a:prstGeom prst="leftArrow">
            <a:avLst/>
          </a:prstGeom>
          <a:solidFill>
            <a:srgbClr val="C5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4434840"/>
            <a:ext cx="5394960" cy="640080"/>
          </a:xfrm>
          <a:prstGeom prst="rect">
            <a:avLst/>
          </a:prstGeom>
          <a:noFill/>
        </p:spPr>
        <p:txBody>
          <a:bodyPr wrap="square">
            <a:spAutoFit/>
          </a:bodyPr>
          <a:lstStyle/>
          <a:p>
            <a:pPr algn="ctr" rtl="1">
              <a:defRPr sz="1200" b="1">
                <a:solidFill>
                  <a:srgbClr val="C53030"/>
                </a:solidFill>
              </a:defRPr>
            </a:pPr>
            <a:r>
              <a:t>נמען חמישי = שינוי קוד בשירות ההזמנות, בדיקות ופריסה מחדש</a:t>
            </a:r>
          </a:p>
        </p:txBody>
      </p:sp>
      <p:sp>
        <p:nvSpPr>
          <p:cNvPr id="15" name="Rectangle 14"/>
          <p:cNvSpPr/>
          <p:nvPr/>
        </p:nvSpPr>
        <p:spPr>
          <a:xfrm>
            <a:off x="6263640" y="1920240"/>
            <a:ext cx="18288" cy="2377440"/>
          </a:xfrm>
          <a:prstGeom prst="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1874519"/>
            <a:ext cx="5394960" cy="292608"/>
          </a:xfrm>
          <a:prstGeom prst="rect">
            <a:avLst/>
          </a:prstGeom>
          <a:noFill/>
        </p:spPr>
        <p:txBody>
          <a:bodyPr wrap="none">
            <a:spAutoFit/>
          </a:bodyPr>
          <a:lstStyle/>
          <a:p>
            <a:pPr algn="ctr" rtl="1">
              <a:defRPr sz="1300" b="1">
                <a:solidFill>
                  <a:srgbClr val="1C783E"/>
                </a:solidFill>
              </a:defRPr>
            </a:pPr>
            <a:r>
              <a:t>עם ברוקר: השולח מכיר כתובת אחת</a:t>
            </a:r>
          </a:p>
        </p:txBody>
      </p:sp>
      <p:sp>
        <p:nvSpPr>
          <p:cNvPr id="17" name="Rounded Rectangle 16"/>
          <p:cNvSpPr/>
          <p:nvPr/>
        </p:nvSpPr>
        <p:spPr>
          <a:xfrm>
            <a:off x="4572000" y="2880360"/>
            <a:ext cx="1463040" cy="914400"/>
          </a:xfrm>
          <a:prstGeom prst="roundRect">
            <a:avLst/>
          </a:prstGeom>
          <a:solidFill>
            <a:srgbClr val="E9F5EC"/>
          </a:solidFill>
          <a:ln w="12700">
            <a:solidFill>
              <a:srgbClr val="1C783E"/>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200" b="1">
                <a:solidFill>
                  <a:srgbClr val="1C783E"/>
                </a:solidFill>
              </a:defRPr>
            </a:pPr>
            <a:r>
              <a:t>שירות ההזמנות</a:t>
            </a:r>
          </a:p>
          <a:p>
            <a:pPr algn="ctr" rtl="1">
              <a:defRPr sz="1000">
                <a:solidFill>
                  <a:srgbClr val="1C783E"/>
                </a:solidFill>
              </a:defRPr>
            </a:pPr>
            <a:r>
              <a:t>מפרסם עובדה אחת</a:t>
            </a:r>
          </a:p>
        </p:txBody>
      </p:sp>
      <p:sp>
        <p:nvSpPr>
          <p:cNvPr id="18" name="Left Arrow 17"/>
          <p:cNvSpPr/>
          <p:nvPr/>
        </p:nvSpPr>
        <p:spPr>
          <a:xfrm>
            <a:off x="3977639" y="3236976"/>
            <a:ext cx="548640" cy="201168"/>
          </a:xfrm>
          <a:prstGeom prst="leftArrow">
            <a:avLst/>
          </a:prstGeom>
          <a:solidFill>
            <a:srgbClr val="1C78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514600" y="2880360"/>
            <a:ext cx="1463040" cy="914400"/>
          </a:xfrm>
          <a:prstGeom prst="roundRect">
            <a:avLst/>
          </a:prstGeom>
          <a:solidFill>
            <a:srgbClr val="14233C"/>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200" b="1">
                <a:solidFill>
                  <a:srgbClr val="FFFFFF"/>
                </a:solidFill>
              </a:defRPr>
            </a:pPr>
            <a:r>
              <a:t>Message Broker</a:t>
            </a:r>
          </a:p>
          <a:p>
            <a:pPr algn="ctr" rtl="1">
              <a:defRPr sz="1000">
                <a:solidFill>
                  <a:srgbClr val="FFFFFF"/>
                </a:solidFill>
              </a:defRPr>
            </a:pPr>
            <a:r>
              <a:t>הוא שמנתב</a:t>
            </a:r>
          </a:p>
        </p:txBody>
      </p:sp>
      <p:sp>
        <p:nvSpPr>
          <p:cNvPr id="20" name="Rounded Rectangle 19"/>
          <p:cNvSpPr/>
          <p:nvPr/>
        </p:nvSpPr>
        <p:spPr>
          <a:xfrm>
            <a:off x="640080" y="2286000"/>
            <a:ext cx="1371600" cy="457200"/>
          </a:xfrm>
          <a:prstGeom prst="roundRect">
            <a:avLst/>
          </a:prstGeom>
          <a:solidFill>
            <a:srgbClr val="EEF1F5"/>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200" b="1">
                <a:solidFill>
                  <a:srgbClr val="14233C"/>
                </a:solidFill>
              </a:defRPr>
            </a:pPr>
            <a:r>
              <a:t>חיוב</a:t>
            </a:r>
          </a:p>
        </p:txBody>
      </p:sp>
      <p:sp>
        <p:nvSpPr>
          <p:cNvPr id="21" name="Left Arrow 20"/>
          <p:cNvSpPr/>
          <p:nvPr/>
        </p:nvSpPr>
        <p:spPr>
          <a:xfrm>
            <a:off x="2011680" y="2414016"/>
            <a:ext cx="457200" cy="201168"/>
          </a:xfrm>
          <a:prstGeom prst="leftArrow">
            <a:avLst/>
          </a:prstGeom>
          <a:solidFill>
            <a:srgbClr val="1C78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0080" y="2834640"/>
            <a:ext cx="1371600" cy="457200"/>
          </a:xfrm>
          <a:prstGeom prst="roundRect">
            <a:avLst/>
          </a:prstGeom>
          <a:solidFill>
            <a:srgbClr val="EEF1F5"/>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200" b="1">
                <a:solidFill>
                  <a:srgbClr val="14233C"/>
                </a:solidFill>
              </a:defRPr>
            </a:pPr>
            <a:r>
              <a:t>מלאי</a:t>
            </a:r>
          </a:p>
        </p:txBody>
      </p:sp>
      <p:sp>
        <p:nvSpPr>
          <p:cNvPr id="23" name="Left Arrow 22"/>
          <p:cNvSpPr/>
          <p:nvPr/>
        </p:nvSpPr>
        <p:spPr>
          <a:xfrm>
            <a:off x="2011680" y="2962656"/>
            <a:ext cx="457200" cy="201168"/>
          </a:xfrm>
          <a:prstGeom prst="leftArrow">
            <a:avLst/>
          </a:prstGeom>
          <a:solidFill>
            <a:srgbClr val="1C78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40080" y="3383280"/>
            <a:ext cx="1371600" cy="457200"/>
          </a:xfrm>
          <a:prstGeom prst="roundRect">
            <a:avLst/>
          </a:prstGeom>
          <a:solidFill>
            <a:srgbClr val="EEF1F5"/>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200" b="1">
                <a:solidFill>
                  <a:srgbClr val="14233C"/>
                </a:solidFill>
              </a:defRPr>
            </a:pPr>
            <a:r>
              <a:t>מייל</a:t>
            </a:r>
          </a:p>
        </p:txBody>
      </p:sp>
      <p:sp>
        <p:nvSpPr>
          <p:cNvPr id="25" name="Left Arrow 24"/>
          <p:cNvSpPr/>
          <p:nvPr/>
        </p:nvSpPr>
        <p:spPr>
          <a:xfrm>
            <a:off x="2011680" y="3511296"/>
            <a:ext cx="457200" cy="201168"/>
          </a:xfrm>
          <a:prstGeom prst="leftArrow">
            <a:avLst/>
          </a:prstGeom>
          <a:solidFill>
            <a:srgbClr val="1C78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40080" y="3931920"/>
            <a:ext cx="1371600" cy="457200"/>
          </a:xfrm>
          <a:prstGeom prst="roundRect">
            <a:avLst/>
          </a:prstGeom>
          <a:solidFill>
            <a:srgbClr val="EEF1F5"/>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200" b="1">
                <a:solidFill>
                  <a:srgbClr val="14233C"/>
                </a:solidFill>
              </a:defRPr>
            </a:pPr>
            <a:r>
              <a:t>אנליטיקה</a:t>
            </a:r>
          </a:p>
        </p:txBody>
      </p:sp>
      <p:sp>
        <p:nvSpPr>
          <p:cNvPr id="27" name="Left Arrow 26"/>
          <p:cNvSpPr/>
          <p:nvPr/>
        </p:nvSpPr>
        <p:spPr>
          <a:xfrm>
            <a:off x="2011680" y="4059935"/>
            <a:ext cx="457200" cy="201168"/>
          </a:xfrm>
          <a:prstGeom prst="leftArrow">
            <a:avLst/>
          </a:prstGeom>
          <a:solidFill>
            <a:srgbClr val="1C78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4434840"/>
            <a:ext cx="5394960" cy="640080"/>
          </a:xfrm>
          <a:prstGeom prst="rect">
            <a:avLst/>
          </a:prstGeom>
          <a:noFill/>
        </p:spPr>
        <p:txBody>
          <a:bodyPr wrap="square">
            <a:spAutoFit/>
          </a:bodyPr>
          <a:lstStyle/>
          <a:p>
            <a:pPr algn="ctr" rtl="1">
              <a:defRPr sz="1200" b="1">
                <a:solidFill>
                  <a:srgbClr val="1C783E"/>
                </a:solidFill>
              </a:defRPr>
            </a:pPr>
            <a:r>
              <a:t>נמען חמישי = חוק חדש בברוקר. השולח לא נגע, לא נבדק, לא נפרס</a:t>
            </a:r>
          </a:p>
        </p:txBody>
      </p:sp>
      <p:sp>
        <p:nvSpPr>
          <p:cNvPr id="29" name="TextBox 28"/>
          <p:cNvSpPr txBox="1"/>
          <p:nvPr/>
        </p:nvSpPr>
        <p:spPr>
          <a:xfrm>
            <a:off x="640080" y="5138928"/>
            <a:ext cx="10911535" cy="1005840"/>
          </a:xfrm>
          <a:prstGeom prst="rect">
            <a:avLst/>
          </a:prstGeom>
          <a:noFill/>
        </p:spPr>
        <p:txBody>
          <a:bodyPr wrap="square">
            <a:spAutoFit/>
          </a:bodyPr>
          <a:lstStyle/>
          <a:p>
            <a:pPr algn="r" rtl="1"/>
            <a:r>
              <a:rPr sz="1300" b="1">
                <a:solidFill>
                  <a:srgbClr val="007AFF"/>
                </a:solidFill>
              </a:rPr>
              <a:t>מה שבאמת השתנה:</a:t>
            </a:r>
            <a:r>
              <a:rPr sz="1300" b="0">
                <a:solidFill>
                  <a:srgbClr val="282828"/>
                </a:solidFill>
              </a:rPr>
              <a:t> ההחלטה מי מקבל עותק עברה מהקוד של השולח אל התשתית. זה מוריד את הצימוד (Coupling) – המידה שבה שינוי בשירות אחד מכריח שינוי בשירות אחר.</a:t>
            </a:r>
          </a:p>
          <a:p>
            <a:pPr algn="r" rtl="1"/>
            <a:r>
              <a:rPr sz="1300" b="1">
                <a:solidFill>
                  <a:srgbClr val="007AFF"/>
                </a:solidFill>
              </a:rPr>
              <a:t>ולמה זה מגיע לשקף הראשון:</a:t>
            </a:r>
            <a:r>
              <a:rPr sz="1300" b="0">
                <a:solidFill>
                  <a:srgbClr val="282828"/>
                </a:solidFill>
              </a:rPr>
              <a:t> ברגע שהברוקר מחליט, צריך להגיד לו איך – וזו בדיוק אסטרטגיית הניתוב. היא קובעת את </a:t>
            </a:r>
            <a:r>
              <a:rPr sz="1300" b="1">
                <a:solidFill>
                  <a:srgbClr val="BE550F"/>
                </a:solidFill>
              </a:rPr>
              <a:t>הצימוד</a:t>
            </a:r>
            <a:r>
              <a:rPr sz="1300" b="0">
                <a:solidFill>
                  <a:srgbClr val="282828"/>
                </a:solidFill>
              </a:rPr>
              <a:t>, את </a:t>
            </a:r>
            <a:r>
              <a:rPr sz="1300" b="1">
                <a:solidFill>
                  <a:srgbClr val="BE550F"/>
                </a:solidFill>
              </a:rPr>
              <a:t>התפוקה</a:t>
            </a:r>
            <a:r>
              <a:rPr sz="1300" b="0">
                <a:solidFill>
                  <a:srgbClr val="282828"/>
                </a:solidFill>
              </a:rPr>
              <a:t> ואת </a:t>
            </a:r>
            <a:r>
              <a:rPr sz="1300" b="1">
                <a:solidFill>
                  <a:srgbClr val="BE550F"/>
                </a:solidFill>
              </a:rPr>
              <a:t>סדר ההודעות</a:t>
            </a:r>
            <a:r>
              <a:rPr sz="1300" b="0">
                <a:solidFill>
                  <a:srgbClr val="282828"/>
                </a:solidFill>
              </a:rPr>
              <a:t>: שלושה דברים שקשה לשנות בדיעבד.</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none">
            <a:spAutoFit/>
          </a:bodyPr>
          <a:lstStyle/>
          <a:p>
            <a:pPr algn="r" rtl="1">
              <a:defRPr sz="2800" b="1">
                <a:solidFill>
                  <a:srgbClr val="14233C"/>
                </a:solidFill>
              </a:defRPr>
            </a:pPr>
            <a:r>
              <a:t>איפה מתבצע הניתוב?</a:t>
            </a:r>
          </a:p>
        </p:txBody>
      </p:sp>
      <p:sp>
        <p:nvSpPr>
          <p:cNvPr id="3" name="TextBox 2"/>
          <p:cNvSpPr txBox="1"/>
          <p:nvPr/>
        </p:nvSpPr>
        <p:spPr>
          <a:xfrm>
            <a:off x="640080" y="1371600"/>
            <a:ext cx="10911535" cy="5029200"/>
          </a:xfrm>
          <a:prstGeom prst="rect">
            <a:avLst/>
          </a:prstGeom>
          <a:noFill/>
        </p:spPr>
        <p:txBody>
          <a:bodyPr wrap="square">
            <a:spAutoFit/>
          </a:bodyPr>
          <a:lstStyle/>
          <a:p>
            <a:pPr algn="r" rtl="1">
              <a:spcAft>
                <a:spcPts val="1200"/>
              </a:spcAft>
            </a:pPr>
            <a:r>
              <a:rPr sz="2000" b="1">
                <a:solidFill>
                  <a:srgbClr val="007AFF"/>
                </a:solidFill>
              </a:rPr>
              <a:t>• בצד הברוקר (Broker-Side): </a:t>
            </a:r>
            <a:r>
              <a:rPr sz="2000" b="0">
                <a:solidFill>
                  <a:srgbClr val="282828"/>
                </a:solidFill>
              </a:rPr>
              <a:t>הברוקר מחזיק את חוקי הניתוב ומעביר לכל תור רק את מה שרלוונטי לו. זה המודל שבו נתמקד, והמונחים שנשתמש בהם – </a:t>
            </a:r>
            <a:r>
              <a:rPr sz="2000" b="1">
                <a:solidFill>
                  <a:srgbClr val="BE550F"/>
                </a:solidFill>
              </a:rPr>
              <a:t>Exchange ו-Binding</a:t>
            </a:r>
            <a:r>
              <a:rPr sz="2000" b="0">
                <a:solidFill>
                  <a:srgbClr val="282828"/>
                </a:solidFill>
              </a:rPr>
              <a:t> – הם המילון שלו: המילון של AMQP, התקן שמאחורי RabbitMQ. בטכנולוגיות אחרות אותן אסטרטגיות קיימות, אך במקום אחר ובשמות אחרים.</a:t>
            </a:r>
          </a:p>
          <a:p>
            <a:pPr algn="r" rtl="1">
              <a:spcAft>
                <a:spcPts val="1200"/>
              </a:spcAft>
            </a:pPr>
            <a:r>
              <a:rPr sz="2000" b="1">
                <a:solidFill>
                  <a:srgbClr val="007AFF"/>
                </a:solidFill>
              </a:rPr>
              <a:t>• בצד הצרכן (Consumer-Side Filtering): </a:t>
            </a:r>
            <a:r>
              <a:rPr sz="2000" b="0">
                <a:solidFill>
                  <a:srgbClr val="282828"/>
                </a:solidFill>
              </a:rPr>
              <a:t>הברוקר שולח לכל צרכן את כל ההודעות, וכל אחד בודק בעצמו מה שלו. אם רק אחת מעשר מעניינת אותו – </a:t>
            </a:r>
            <a:r>
              <a:rPr sz="2000" b="1">
                <a:solidFill>
                  <a:srgbClr val="BE550F"/>
                </a:solidFill>
              </a:rPr>
              <a:t>90% מהתעבורה חצתה את הרשת לחינם</a:t>
            </a:r>
            <a:r>
              <a:rPr sz="2000" b="0">
                <a:solidFill>
                  <a:srgbClr val="282828"/>
                </a:solidFill>
              </a:rPr>
              <a:t>, והצרכן שרף CPU על פענוח כל הודעה רק כדי לזרוק אותה.</a:t>
            </a:r>
          </a:p>
          <a:p>
            <a:pPr algn="r" rtl="1">
              <a:spcAft>
                <a:spcPts val="1200"/>
              </a:spcAft>
            </a:pPr>
            <a:r>
              <a:rPr sz="2000" b="1">
                <a:solidFill>
                  <a:srgbClr val="007AFF"/>
                </a:solidFill>
              </a:rPr>
              <a:t>• ההבדל בשורה אחת: </a:t>
            </a:r>
            <a:r>
              <a:rPr sz="2000" b="0">
                <a:solidFill>
                  <a:srgbClr val="282828"/>
                </a:solidFill>
              </a:rPr>
              <a:t>ניתוב בברוקר – הרשת נושאת </a:t>
            </a:r>
            <a:r>
              <a:rPr sz="2000" b="1">
                <a:solidFill>
                  <a:srgbClr val="BE550F"/>
                </a:solidFill>
              </a:rPr>
              <a:t>רק את מה שצריך</a:t>
            </a:r>
            <a:r>
              <a:rPr sz="2000" b="0">
                <a:solidFill>
                  <a:srgbClr val="282828"/>
                </a:solidFill>
              </a:rPr>
              <a:t>. סינון בצרכן – הרשת נושאת הכול, והצרכן משלם על מה שלא ביקש.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none">
            <a:spAutoFit/>
          </a:bodyPr>
          <a:lstStyle/>
          <a:p>
            <a:pPr algn="r" rtl="1">
              <a:defRPr sz="2800" b="1">
                <a:solidFill>
                  <a:srgbClr val="14233C"/>
                </a:solidFill>
              </a:defRPr>
            </a:pPr>
            <a:r>
              <a:t>1. Direct Routing – ניתוב ישיר</a:t>
            </a:r>
          </a:p>
        </p:txBody>
      </p:sp>
      <p:sp>
        <p:nvSpPr>
          <p:cNvPr id="3" name="TextBox 2"/>
          <p:cNvSpPr txBox="1"/>
          <p:nvPr/>
        </p:nvSpPr>
        <p:spPr>
          <a:xfrm>
            <a:off x="640080" y="1371600"/>
            <a:ext cx="10911535" cy="5029200"/>
          </a:xfrm>
          <a:prstGeom prst="rect">
            <a:avLst/>
          </a:prstGeom>
          <a:noFill/>
        </p:spPr>
        <p:txBody>
          <a:bodyPr wrap="square">
            <a:spAutoFit/>
          </a:bodyPr>
          <a:lstStyle/>
          <a:p>
            <a:pPr algn="r" rtl="1">
              <a:spcAft>
                <a:spcPts val="1200"/>
              </a:spcAft>
            </a:pPr>
            <a:r>
              <a:rPr sz="1800" b="1">
                <a:solidFill>
                  <a:srgbClr val="007AFF"/>
                </a:solidFill>
              </a:rPr>
              <a:t>• מנגנון: </a:t>
            </a:r>
            <a:r>
              <a:rPr sz="1800" b="0">
                <a:solidFill>
                  <a:srgbClr val="282828"/>
                </a:solidFill>
              </a:rPr>
              <a:t>לכל הודעה יש Routing Key – מחרוזת קצרה במעטפה, למשל orders.charge. הברוקר מחזיק טבלה שממפה מחרוזת ← תורים, ומחפש בה את המחרוזת המדויקת.</a:t>
            </a:r>
          </a:p>
          <a:p>
            <a:pPr algn="r" rtl="1">
              <a:spcAft>
                <a:spcPts val="1200"/>
              </a:spcAft>
            </a:pPr>
            <a:r>
              <a:rPr sz="1800" b="1">
                <a:solidFill>
                  <a:srgbClr val="007AFF"/>
                </a:solidFill>
              </a:rPr>
              <a:t>• למה 'טבלת hash' חשוב: </a:t>
            </a:r>
            <a:r>
              <a:rPr sz="1800" b="0">
                <a:solidFill>
                  <a:srgbClr val="282828"/>
                </a:solidFill>
              </a:rPr>
              <a:t>זהו חיפוש בטבלה, ולכן </a:t>
            </a:r>
            <a:r>
              <a:rPr sz="1800" b="1">
                <a:solidFill>
                  <a:srgbClr val="BE550F"/>
                </a:solidFill>
              </a:rPr>
              <a:t>זמן החיפוש לא גדל עם מספר התורים</a:t>
            </a:r>
            <a:r>
              <a:rPr sz="1800" b="0">
                <a:solidFill>
                  <a:srgbClr val="282828"/>
                </a:solidFill>
              </a:rPr>
              <a:t> – אלף תורים עולים כמו תור אחד. זהו מסלול הניתוב הזול ביותר שקיים.</a:t>
            </a:r>
          </a:p>
          <a:p>
            <a:pPr algn="r" rtl="1">
              <a:spcAft>
                <a:spcPts val="1200"/>
              </a:spcAft>
            </a:pPr>
            <a:r>
              <a:rPr sz="1800" b="1">
                <a:solidFill>
                  <a:srgbClr val="007AFF"/>
                </a:solidFill>
              </a:rPr>
              <a:t>• מתי Direct – פקודה, לא אירוע: </a:t>
            </a:r>
            <a:r>
              <a:rPr sz="1800" b="0">
                <a:solidFill>
                  <a:srgbClr val="282828"/>
                </a:solidFill>
              </a:rPr>
              <a:t>'חייב את הכרטיס' היא פקודה: יש לה בעל אחד, ואסור ששניים יבצעו אותה. 'הזמנה בוצעה' הוא אירוע – עובדה שקרתה, שמעניינת רבים. </a:t>
            </a:r>
            <a:r>
              <a:rPr sz="1800" b="1">
                <a:solidFill>
                  <a:srgbClr val="BE550F"/>
                </a:solidFill>
              </a:rPr>
              <a:t>פקודה ← Direct, אירוע ← Fanout או Topic</a:t>
            </a:r>
            <a:r>
              <a:rPr sz="1800" b="0">
                <a:solidFill>
                  <a:srgbClr val="282828"/>
                </a:solidFill>
              </a:rPr>
              <a:t>.</a:t>
            </a:r>
          </a:p>
          <a:p>
            <a:pPr algn="r" rtl="1">
              <a:spcAft>
                <a:spcPts val="1200"/>
              </a:spcAft>
            </a:pPr>
            <a:r>
              <a:rPr sz="1800" b="1">
                <a:solidFill>
                  <a:srgbClr val="007AFF"/>
                </a:solidFill>
              </a:rPr>
              <a:t>• הרחבה – Competing Consumers: </a:t>
            </a:r>
            <a:r>
              <a:rPr sz="1800" b="0">
                <a:solidFill>
                  <a:srgbClr val="282828"/>
                </a:solidFill>
              </a:rPr>
              <a:t>Worker הוא מופע של הקוד שלכם שרץ על שרת, מושך מהתור ומבצע. מחברים עשרה כאלה לאותו תור, והברוקר מחלק ביניהם – </a:t>
            </a:r>
            <a:r>
              <a:rPr sz="1800" b="1">
                <a:solidFill>
                  <a:srgbClr val="BE550F"/>
                </a:solidFill>
              </a:rPr>
              <a:t>כל הודעה נמסרת ל-Worker אחד בלבד</a:t>
            </a:r>
            <a:r>
              <a:rPr sz="1800" b="0">
                <a:solidFill>
                  <a:srgbClr val="282828"/>
                </a:solidFill>
              </a:rP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none">
            <a:spAutoFit/>
          </a:bodyPr>
          <a:lstStyle/>
          <a:p>
            <a:pPr algn="r" rtl="1">
              <a:defRPr sz="2800" b="1">
                <a:solidFill>
                  <a:srgbClr val="14233C"/>
                </a:solidFill>
              </a:defRPr>
            </a:pPr>
            <a:r>
              <a:t>המחיר של עשרה Workers: הסדר נשבר</a:t>
            </a:r>
          </a:p>
        </p:txBody>
      </p:sp>
      <p:sp>
        <p:nvSpPr>
          <p:cNvPr id="3" name="TextBox 2"/>
          <p:cNvSpPr txBox="1"/>
          <p:nvPr/>
        </p:nvSpPr>
        <p:spPr>
          <a:xfrm>
            <a:off x="640080" y="1207008"/>
            <a:ext cx="10911535" cy="749808"/>
          </a:xfrm>
          <a:prstGeom prst="rect">
            <a:avLst/>
          </a:prstGeom>
          <a:noFill/>
        </p:spPr>
        <p:txBody>
          <a:bodyPr wrap="square">
            <a:spAutoFit/>
          </a:bodyPr>
          <a:lstStyle/>
          <a:p>
            <a:pPr algn="r" rtl="1">
              <a:defRPr sz="1500">
                <a:solidFill>
                  <a:srgbClr val="282828"/>
                </a:solidFill>
              </a:defRPr>
            </a:pPr>
            <a:r>
              <a:t>דלפק אחד, עשרה פקידים, תור אחד. מגיעים שני פתקים על אותו לקוח – 'קח ממנו 100 ₪' ואחריו 'החזר לו 100 ₪' – וכל פתק נלקח בידי פקיד אחר. שניהם עובדים באותו רגע.</a:t>
            </a:r>
          </a:p>
        </p:txBody>
      </p:sp>
      <p:sp>
        <p:nvSpPr>
          <p:cNvPr id="4" name="TextBox 3"/>
          <p:cNvSpPr txBox="1"/>
          <p:nvPr/>
        </p:nvSpPr>
        <p:spPr>
          <a:xfrm>
            <a:off x="6492240" y="2029968"/>
            <a:ext cx="5394960" cy="292608"/>
          </a:xfrm>
          <a:prstGeom prst="rect">
            <a:avLst/>
          </a:prstGeom>
          <a:noFill/>
        </p:spPr>
        <p:txBody>
          <a:bodyPr wrap="none">
            <a:spAutoFit/>
          </a:bodyPr>
          <a:lstStyle/>
          <a:p>
            <a:pPr algn="ctr" rtl="1">
              <a:defRPr sz="1300" b="1">
                <a:solidFill>
                  <a:srgbClr val="C53030"/>
                </a:solidFill>
              </a:defRPr>
            </a:pPr>
            <a:r>
              <a:t>הבעיה: תור אחד, כמה Workers</a:t>
            </a:r>
          </a:p>
        </p:txBody>
      </p:sp>
      <p:sp>
        <p:nvSpPr>
          <p:cNvPr id="5" name="Rounded Rectangle 4"/>
          <p:cNvSpPr/>
          <p:nvPr/>
        </p:nvSpPr>
        <p:spPr>
          <a:xfrm>
            <a:off x="10424160" y="2788920"/>
            <a:ext cx="1463040" cy="822960"/>
          </a:xfrm>
          <a:prstGeom prst="roundRect">
            <a:avLst/>
          </a:prstGeom>
          <a:solidFill>
            <a:srgbClr val="EEF1F5"/>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200" b="1">
                <a:solidFill>
                  <a:srgbClr val="14233C"/>
                </a:solidFill>
              </a:defRPr>
            </a:pPr>
            <a:r>
              <a:t>לקוח #8123</a:t>
            </a:r>
          </a:p>
          <a:p>
            <a:pPr algn="ctr" rtl="1">
              <a:defRPr sz="1000">
                <a:solidFill>
                  <a:srgbClr val="14233C"/>
                </a:solidFill>
              </a:defRPr>
            </a:pPr>
            <a:r>
              <a:t>חייב, ואז זכה</a:t>
            </a:r>
          </a:p>
        </p:txBody>
      </p:sp>
      <p:sp>
        <p:nvSpPr>
          <p:cNvPr id="6" name="Left Arrow 5"/>
          <p:cNvSpPr/>
          <p:nvPr/>
        </p:nvSpPr>
        <p:spPr>
          <a:xfrm>
            <a:off x="9921240" y="3099816"/>
            <a:ext cx="457200" cy="201168"/>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458200" y="2788920"/>
            <a:ext cx="1463040" cy="822960"/>
          </a:xfrm>
          <a:prstGeom prst="roundRect">
            <a:avLst/>
          </a:prstGeom>
          <a:solidFill>
            <a:srgbClr val="EEF1F5"/>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200" b="1">
                <a:solidFill>
                  <a:srgbClr val="14233C"/>
                </a:solidFill>
              </a:defRPr>
            </a:pPr>
            <a:r>
              <a:t>charge-queue</a:t>
            </a:r>
          </a:p>
          <a:p>
            <a:pPr algn="ctr" rtl="1">
              <a:defRPr sz="1000">
                <a:solidFill>
                  <a:srgbClr val="14233C"/>
                </a:solidFill>
              </a:defRPr>
            </a:pPr>
            <a:r>
              <a:t>כל הלקוחות יחד</a:t>
            </a:r>
          </a:p>
        </p:txBody>
      </p:sp>
      <p:sp>
        <p:nvSpPr>
          <p:cNvPr id="8" name="Rounded Rectangle 7"/>
          <p:cNvSpPr/>
          <p:nvPr/>
        </p:nvSpPr>
        <p:spPr>
          <a:xfrm>
            <a:off x="6492240" y="2651760"/>
            <a:ext cx="1463040" cy="594360"/>
          </a:xfrm>
          <a:prstGeom prst="roundRect">
            <a:avLst/>
          </a:prstGeom>
          <a:solidFill>
            <a:srgbClr val="FDEAEA"/>
          </a:solidFill>
          <a:ln w="12700">
            <a:solidFill>
              <a:srgbClr val="C5303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200" b="1">
                <a:solidFill>
                  <a:srgbClr val="C53030"/>
                </a:solidFill>
              </a:defRPr>
            </a:pPr>
            <a:r>
              <a:t>Worker A</a:t>
            </a:r>
          </a:p>
          <a:p>
            <a:pPr algn="ctr" rtl="1">
              <a:defRPr sz="1000">
                <a:solidFill>
                  <a:srgbClr val="C53030"/>
                </a:solidFill>
              </a:defRPr>
            </a:pPr>
            <a:r>
              <a:t>לוקח: חייב</a:t>
            </a:r>
          </a:p>
        </p:txBody>
      </p:sp>
      <p:sp>
        <p:nvSpPr>
          <p:cNvPr id="9" name="Left Arrow 8"/>
          <p:cNvSpPr/>
          <p:nvPr/>
        </p:nvSpPr>
        <p:spPr>
          <a:xfrm>
            <a:off x="7955279" y="2843784"/>
            <a:ext cx="457200" cy="201168"/>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92240" y="3429000"/>
            <a:ext cx="1463040" cy="594360"/>
          </a:xfrm>
          <a:prstGeom prst="roundRect">
            <a:avLst/>
          </a:prstGeom>
          <a:solidFill>
            <a:srgbClr val="FDEAEA"/>
          </a:solidFill>
          <a:ln w="12700">
            <a:solidFill>
              <a:srgbClr val="C5303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200" b="1">
                <a:solidFill>
                  <a:srgbClr val="C53030"/>
                </a:solidFill>
              </a:defRPr>
            </a:pPr>
            <a:r>
              <a:t>Worker B</a:t>
            </a:r>
          </a:p>
          <a:p>
            <a:pPr algn="ctr" rtl="1">
              <a:defRPr sz="1000">
                <a:solidFill>
                  <a:srgbClr val="C53030"/>
                </a:solidFill>
              </a:defRPr>
            </a:pPr>
            <a:r>
              <a:t>לוקח: זכה</a:t>
            </a:r>
          </a:p>
        </p:txBody>
      </p:sp>
      <p:sp>
        <p:nvSpPr>
          <p:cNvPr id="11" name="Left Arrow 10"/>
          <p:cNvSpPr/>
          <p:nvPr/>
        </p:nvSpPr>
        <p:spPr>
          <a:xfrm>
            <a:off x="7955279" y="3621024"/>
            <a:ext cx="457200" cy="201168"/>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4224528"/>
            <a:ext cx="5394960" cy="548640"/>
          </a:xfrm>
          <a:prstGeom prst="rect">
            <a:avLst/>
          </a:prstGeom>
          <a:noFill/>
        </p:spPr>
        <p:txBody>
          <a:bodyPr wrap="square">
            <a:spAutoFit/>
          </a:bodyPr>
          <a:lstStyle/>
          <a:p>
            <a:pPr algn="ctr" rtl="1">
              <a:defRPr sz="1200" b="1">
                <a:solidFill>
                  <a:srgbClr val="C53030"/>
                </a:solidFill>
              </a:defRPr>
            </a:pPr>
            <a:r>
              <a:t>שניהם עובדים באותו רגע – הזיכוי עלול להסתיים לפני החיוב</a:t>
            </a:r>
          </a:p>
        </p:txBody>
      </p:sp>
      <p:sp>
        <p:nvSpPr>
          <p:cNvPr id="13" name="Rectangle 12"/>
          <p:cNvSpPr/>
          <p:nvPr/>
        </p:nvSpPr>
        <p:spPr>
          <a:xfrm>
            <a:off x="6263640" y="2057400"/>
            <a:ext cx="18288" cy="2651760"/>
          </a:xfrm>
          <a:prstGeom prst="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029968"/>
            <a:ext cx="5394960" cy="292608"/>
          </a:xfrm>
          <a:prstGeom prst="rect">
            <a:avLst/>
          </a:prstGeom>
          <a:noFill/>
        </p:spPr>
        <p:txBody>
          <a:bodyPr wrap="none">
            <a:spAutoFit/>
          </a:bodyPr>
          <a:lstStyle/>
          <a:p>
            <a:pPr algn="ctr" rtl="1">
              <a:defRPr sz="1300" b="1">
                <a:solidFill>
                  <a:srgbClr val="1C783E"/>
                </a:solidFill>
              </a:defRPr>
            </a:pPr>
            <a:r>
              <a:t>הפתרון: פיצול לפי מזהה הלקוח</a:t>
            </a:r>
          </a:p>
        </p:txBody>
      </p:sp>
      <p:sp>
        <p:nvSpPr>
          <p:cNvPr id="15" name="Rounded Rectangle 14"/>
          <p:cNvSpPr/>
          <p:nvPr/>
        </p:nvSpPr>
        <p:spPr>
          <a:xfrm>
            <a:off x="4572000" y="2651760"/>
            <a:ext cx="1463040" cy="594360"/>
          </a:xfrm>
          <a:prstGeom prst="roundRect">
            <a:avLst/>
          </a:prstGeom>
          <a:solidFill>
            <a:srgbClr val="EEF1F5"/>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200" b="1">
                <a:solidFill>
                  <a:srgbClr val="14233C"/>
                </a:solidFill>
              </a:defRPr>
            </a:pPr>
            <a:r>
              <a:t>לקוח #8123</a:t>
            </a:r>
          </a:p>
          <a:p>
            <a:pPr algn="ctr">
              <a:defRPr sz="1000">
                <a:solidFill>
                  <a:srgbClr val="14233C"/>
                </a:solidFill>
              </a:defRPr>
            </a:pPr>
            <a:r>
              <a:t>hash ← 1</a:t>
            </a:r>
          </a:p>
        </p:txBody>
      </p:sp>
      <p:sp>
        <p:nvSpPr>
          <p:cNvPr id="16" name="Left Arrow 15"/>
          <p:cNvSpPr/>
          <p:nvPr/>
        </p:nvSpPr>
        <p:spPr>
          <a:xfrm>
            <a:off x="4069080" y="2843784"/>
            <a:ext cx="457200" cy="201168"/>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606040" y="2651760"/>
            <a:ext cx="1463040" cy="594360"/>
          </a:xfrm>
          <a:prstGeom prst="roundRect">
            <a:avLst/>
          </a:prstGeom>
          <a:solidFill>
            <a:srgbClr val="E9F5EC"/>
          </a:solidFill>
          <a:ln w="12700">
            <a:solidFill>
              <a:srgbClr val="1C783E"/>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a:solidFill>
                  <a:srgbClr val="1C783E"/>
                </a:solidFill>
              </a:defRPr>
            </a:pPr>
            <a:r>
              <a:t>charge-queue-1</a:t>
            </a:r>
          </a:p>
          <a:p>
            <a:pPr algn="ctr" rtl="1">
              <a:defRPr sz="900">
                <a:solidFill>
                  <a:srgbClr val="1C783E"/>
                </a:solidFill>
              </a:defRPr>
            </a:pPr>
            <a:r>
              <a:t>חייב ← זכה</a:t>
            </a:r>
          </a:p>
        </p:txBody>
      </p:sp>
      <p:sp>
        <p:nvSpPr>
          <p:cNvPr id="18" name="Left Arrow 17"/>
          <p:cNvSpPr/>
          <p:nvPr/>
        </p:nvSpPr>
        <p:spPr>
          <a:xfrm>
            <a:off x="2103120" y="2843784"/>
            <a:ext cx="457200" cy="201168"/>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 y="2651760"/>
            <a:ext cx="1463040" cy="594360"/>
          </a:xfrm>
          <a:prstGeom prst="roundRect">
            <a:avLst/>
          </a:prstGeom>
          <a:solidFill>
            <a:srgbClr val="E9F5EC"/>
          </a:solidFill>
          <a:ln w="12700">
            <a:solidFill>
              <a:srgbClr val="1C783E"/>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200" b="1">
                <a:solidFill>
                  <a:srgbClr val="1C783E"/>
                </a:solidFill>
              </a:defRPr>
            </a:pPr>
            <a:r>
              <a:t>Worker A</a:t>
            </a:r>
          </a:p>
          <a:p>
            <a:pPr algn="ctr" rtl="1">
              <a:defRPr sz="1000">
                <a:solidFill>
                  <a:srgbClr val="1C783E"/>
                </a:solidFill>
              </a:defRPr>
            </a:pPr>
            <a:r>
              <a:t>Worker יחיד</a:t>
            </a:r>
          </a:p>
        </p:txBody>
      </p:sp>
      <p:sp>
        <p:nvSpPr>
          <p:cNvPr id="20" name="Rounded Rectangle 19"/>
          <p:cNvSpPr/>
          <p:nvPr/>
        </p:nvSpPr>
        <p:spPr>
          <a:xfrm>
            <a:off x="4572000" y="3429000"/>
            <a:ext cx="1463040" cy="594360"/>
          </a:xfrm>
          <a:prstGeom prst="roundRect">
            <a:avLst/>
          </a:prstGeom>
          <a:solidFill>
            <a:srgbClr val="EEF1F5"/>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200" b="1">
                <a:solidFill>
                  <a:srgbClr val="14233C"/>
                </a:solidFill>
              </a:defRPr>
            </a:pPr>
            <a:r>
              <a:t>לקוח #4471</a:t>
            </a:r>
          </a:p>
          <a:p>
            <a:pPr algn="ctr">
              <a:defRPr sz="1000">
                <a:solidFill>
                  <a:srgbClr val="14233C"/>
                </a:solidFill>
              </a:defRPr>
            </a:pPr>
            <a:r>
              <a:t>hash ← 2</a:t>
            </a:r>
          </a:p>
        </p:txBody>
      </p:sp>
      <p:sp>
        <p:nvSpPr>
          <p:cNvPr id="21" name="Left Arrow 20"/>
          <p:cNvSpPr/>
          <p:nvPr/>
        </p:nvSpPr>
        <p:spPr>
          <a:xfrm>
            <a:off x="4069080" y="3621024"/>
            <a:ext cx="457200" cy="201168"/>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606040" y="3429000"/>
            <a:ext cx="1463040" cy="594360"/>
          </a:xfrm>
          <a:prstGeom prst="roundRect">
            <a:avLst/>
          </a:prstGeom>
          <a:solidFill>
            <a:srgbClr val="E9F5EC"/>
          </a:solidFill>
          <a:ln w="12700">
            <a:solidFill>
              <a:srgbClr val="1C783E"/>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a:solidFill>
                  <a:srgbClr val="1C783E"/>
                </a:solidFill>
              </a:defRPr>
            </a:pPr>
            <a:r>
              <a:t>charge-queue-2</a:t>
            </a:r>
          </a:p>
          <a:p>
            <a:pPr algn="ctr" rtl="1">
              <a:defRPr sz="900">
                <a:solidFill>
                  <a:srgbClr val="1C783E"/>
                </a:solidFill>
              </a:defRPr>
            </a:pPr>
            <a:r>
              <a:t>הזמנה ← חיוב</a:t>
            </a:r>
          </a:p>
        </p:txBody>
      </p:sp>
      <p:sp>
        <p:nvSpPr>
          <p:cNvPr id="23" name="Left Arrow 22"/>
          <p:cNvSpPr/>
          <p:nvPr/>
        </p:nvSpPr>
        <p:spPr>
          <a:xfrm>
            <a:off x="2103120" y="3621024"/>
            <a:ext cx="457200" cy="201168"/>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40080" y="3429000"/>
            <a:ext cx="1463040" cy="594360"/>
          </a:xfrm>
          <a:prstGeom prst="roundRect">
            <a:avLst/>
          </a:prstGeom>
          <a:solidFill>
            <a:srgbClr val="E9F5EC"/>
          </a:solidFill>
          <a:ln w="12700">
            <a:solidFill>
              <a:srgbClr val="1C783E"/>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200" b="1">
                <a:solidFill>
                  <a:srgbClr val="1C783E"/>
                </a:solidFill>
              </a:defRPr>
            </a:pPr>
            <a:r>
              <a:t>Worker B</a:t>
            </a:r>
          </a:p>
          <a:p>
            <a:pPr algn="ctr" rtl="1">
              <a:defRPr sz="1000">
                <a:solidFill>
                  <a:srgbClr val="1C783E"/>
                </a:solidFill>
              </a:defRPr>
            </a:pPr>
            <a:r>
              <a:t>Worker יחיד</a:t>
            </a:r>
          </a:p>
        </p:txBody>
      </p:sp>
      <p:sp>
        <p:nvSpPr>
          <p:cNvPr id="25" name="TextBox 24"/>
          <p:cNvSpPr txBox="1"/>
          <p:nvPr/>
        </p:nvSpPr>
        <p:spPr>
          <a:xfrm>
            <a:off x="640080" y="4224528"/>
            <a:ext cx="5394960" cy="548640"/>
          </a:xfrm>
          <a:prstGeom prst="rect">
            <a:avLst/>
          </a:prstGeom>
          <a:noFill/>
        </p:spPr>
        <p:txBody>
          <a:bodyPr wrap="square">
            <a:spAutoFit/>
          </a:bodyPr>
          <a:lstStyle/>
          <a:p>
            <a:pPr algn="ctr" rtl="1">
              <a:defRPr sz="1200" b="1">
                <a:solidFill>
                  <a:srgbClr val="1C783E"/>
                </a:solidFill>
              </a:defRPr>
            </a:pPr>
            <a:r>
              <a:t>אותו לקוח – תמיד אותו תור, ובו Worker אחד בלבד</a:t>
            </a:r>
          </a:p>
        </p:txBody>
      </p:sp>
      <p:sp>
        <p:nvSpPr>
          <p:cNvPr id="26" name="TextBox 25"/>
          <p:cNvSpPr txBox="1"/>
          <p:nvPr/>
        </p:nvSpPr>
        <p:spPr>
          <a:xfrm>
            <a:off x="640080" y="4892040"/>
            <a:ext cx="10911535" cy="1280160"/>
          </a:xfrm>
          <a:prstGeom prst="rect">
            <a:avLst/>
          </a:prstGeom>
          <a:noFill/>
        </p:spPr>
        <p:txBody>
          <a:bodyPr wrap="square">
            <a:spAutoFit/>
          </a:bodyPr>
          <a:lstStyle/>
          <a:p>
            <a:pPr algn="r" rtl="1"/>
            <a:r>
              <a:rPr sz="1300" b="1">
                <a:solidFill>
                  <a:srgbClr val="14233C"/>
                </a:solidFill>
              </a:rPr>
              <a:t>למה הסדר נשמר – שני תנאים, ורק יחד:</a:t>
            </a:r>
          </a:p>
          <a:p>
            <a:pPr algn="r" rtl="1"/>
            <a:r>
              <a:rPr sz="1300" b="1">
                <a:solidFill>
                  <a:srgbClr val="007AFF"/>
                </a:solidFill>
              </a:rPr>
              <a:t>1. אותו מזהה ← תמיד אותו תור.</a:t>
            </a:r>
            <a:r>
              <a:rPr sz="1300">
                <a:solidFill>
                  <a:srgbClr val="282828"/>
                </a:solidFill>
              </a:rPr>
              <a:t> המפתח כאן הוא מזהה הלקוח – המספר הייחודי שלו במסד, למשל 8123. hash של אותו מספר מחזיר תמיד את אותה תוצאה, ולכן כל הודעה שלו נוחתת ב-charge-queue-1. לעולם לא באחר.</a:t>
            </a:r>
          </a:p>
          <a:p>
            <a:pPr algn="r" rtl="1"/>
            <a:r>
              <a:rPr sz="1300" b="1">
                <a:solidFill>
                  <a:srgbClr val="007AFF"/>
                </a:solidFill>
              </a:rPr>
              <a:t>2. לתור הזה יש Worker אחד.</a:t>
            </a:r>
            <a:r>
              <a:rPr sz="1300">
                <a:solidFill>
                  <a:srgbClr val="282828"/>
                </a:solidFill>
              </a:rPr>
              <a:t> תור הוא FIFO – הנכנס ראשון יוצא ראשון. עם צרכן יחיד אין מקביליות בתוכו, ולכן 'חייב' מטופל עד הסוף לפני ש'זכה' בכלל מתחיל.</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none">
            <a:spAutoFit/>
          </a:bodyPr>
          <a:lstStyle/>
          <a:p>
            <a:pPr algn="r" rtl="1">
              <a:defRPr sz="2800" b="1">
                <a:solidFill>
                  <a:srgbClr val="14233C"/>
                </a:solidFill>
              </a:defRPr>
            </a:pPr>
            <a:r>
              <a:t>2. Fanout Routing – שידור לכולם</a:t>
            </a:r>
          </a:p>
        </p:txBody>
      </p:sp>
      <p:sp>
        <p:nvSpPr>
          <p:cNvPr id="3" name="TextBox 2"/>
          <p:cNvSpPr txBox="1"/>
          <p:nvPr/>
        </p:nvSpPr>
        <p:spPr>
          <a:xfrm>
            <a:off x="640080" y="1280160"/>
            <a:ext cx="10911535" cy="1828800"/>
          </a:xfrm>
          <a:prstGeom prst="rect">
            <a:avLst/>
          </a:prstGeom>
          <a:noFill/>
        </p:spPr>
        <p:txBody>
          <a:bodyPr wrap="square">
            <a:spAutoFit/>
          </a:bodyPr>
          <a:lstStyle/>
          <a:p>
            <a:pPr algn="r" rtl="1">
              <a:spcAft>
                <a:spcPts val="1200"/>
              </a:spcAft>
            </a:pPr>
            <a:r>
              <a:rPr sz="1700" b="1">
                <a:solidFill>
                  <a:srgbClr val="007AFF"/>
                </a:solidFill>
              </a:rPr>
              <a:t>• מנגנון: </a:t>
            </a:r>
            <a:r>
              <a:rPr sz="1700" b="0">
                <a:solidFill>
                  <a:srgbClr val="282828"/>
                </a:solidFill>
              </a:rPr>
              <a:t>הברוקר מתעלם מהמפתח ומעתיק את ההודעה לכל תור שמחובר ל-Exchange. </a:t>
            </a:r>
            <a:r>
              <a:rPr sz="1700" b="1">
                <a:solidFill>
                  <a:srgbClr val="BE550F"/>
                </a:solidFill>
              </a:rPr>
              <a:t>'מנוי' = תור + השירות שקורא ממנו</a:t>
            </a:r>
            <a:r>
              <a:rPr sz="1700" b="0">
                <a:solidFill>
                  <a:srgbClr val="282828"/>
                </a:solidFill>
              </a:rPr>
              <a:t>: התור מחזיק את ההודעות, ה-Consumer הוא הקוד שמעבד אותן, וה-Binding הוא החיבור ביניהם.</a:t>
            </a:r>
          </a:p>
          <a:p>
            <a:pPr algn="r" rtl="1">
              <a:spcAft>
                <a:spcPts val="1200"/>
              </a:spcAft>
            </a:pPr>
            <a:r>
              <a:rPr sz="1700" b="1">
                <a:solidFill>
                  <a:srgbClr val="007AFF"/>
                </a:solidFill>
              </a:rPr>
              <a:t>• המחיר – עלות ליניארית במספר המנויים: </a:t>
            </a:r>
            <a:r>
              <a:rPr sz="1700" b="0">
                <a:solidFill>
                  <a:srgbClr val="282828"/>
                </a:solidFill>
              </a:rPr>
              <a:t>ה-Exchange אינו מחזיק הודעות, הוא רק מנתב. לכן כדי להגיע לעשרה תורים הברוקר מבצע </a:t>
            </a:r>
            <a:r>
              <a:rPr sz="1700" b="1">
                <a:solidFill>
                  <a:srgbClr val="BE550F"/>
                </a:solidFill>
              </a:rPr>
              <a:t>עשר פעולות הכנסה נפרדות</a:t>
            </a:r>
            <a:r>
              <a:rPr sz="1700" b="0">
                <a:solidFill>
                  <a:srgbClr val="282828"/>
                </a:solidFill>
              </a:rPr>
              <a:t>, ובהמשך עשר מסירות נפרדות ברשת – אחת לכל צרכן.</a:t>
            </a:r>
          </a:p>
        </p:txBody>
      </p:sp>
      <p:graphicFrame>
        <p:nvGraphicFramePr>
          <p:cNvPr id="4" name="Table 3"/>
          <p:cNvGraphicFramePr>
            <a:graphicFrameLocks noGrp="1"/>
          </p:cNvGraphicFramePr>
          <p:nvPr/>
        </p:nvGraphicFramePr>
        <p:xfrm>
          <a:off x="640080" y="3246120"/>
          <a:ext cx="10911535" cy="1691640"/>
        </p:xfrm>
        <a:graphic>
          <a:graphicData uri="http://schemas.openxmlformats.org/drawingml/2006/table">
            <a:tbl>
              <a:tblPr firstRow="1" bandRow="1">
                <a:tableStyleId>{5C22544A-7EE6-4342-B048-85BDC9FD1C3A}</a:tableStyleId>
              </a:tblPr>
              <a:tblGrid>
                <a:gridCol w="3637178"/>
                <a:gridCol w="3637178"/>
                <a:gridCol w="3637179"/>
              </a:tblGrid>
              <a:tr h="422910">
                <a:tc>
                  <a:txBody>
                    <a:bodyPr/>
                    <a:lstStyle/>
                    <a:p>
                      <a:pPr algn="r" rtl="1">
                        <a:defRPr sz="1500" b="1">
                          <a:solidFill>
                            <a:srgbClr val="FFFFFF"/>
                          </a:solidFill>
                        </a:defRPr>
                      </a:pPr>
                      <a:r>
                        <a:t>מסירות ברשת</a:t>
                      </a:r>
                    </a:p>
                  </a:txBody>
                  <a:tcPr>
                    <a:solidFill>
                      <a:srgbClr val="14233C"/>
                    </a:solidFill>
                  </a:tcPr>
                </a:tc>
                <a:tc>
                  <a:txBody>
                    <a:bodyPr/>
                    <a:lstStyle/>
                    <a:p>
                      <a:pPr algn="r" rtl="1">
                        <a:defRPr sz="1500" b="1">
                          <a:solidFill>
                            <a:srgbClr val="FFFFFF"/>
                          </a:solidFill>
                        </a:defRPr>
                      </a:pPr>
                      <a:r>
                        <a:t>פעולות הכנסה לתור</a:t>
                      </a:r>
                    </a:p>
                  </a:txBody>
                  <a:tcPr>
                    <a:solidFill>
                      <a:srgbClr val="14233C"/>
                    </a:solidFill>
                  </a:tcPr>
                </a:tc>
                <a:tc>
                  <a:txBody>
                    <a:bodyPr/>
                    <a:lstStyle/>
                    <a:p>
                      <a:pPr algn="r" rtl="1">
                        <a:defRPr sz="1500" b="1">
                          <a:solidFill>
                            <a:srgbClr val="FFFFFF"/>
                          </a:solidFill>
                        </a:defRPr>
                      </a:pPr>
                      <a:r>
                        <a:t>התרחיש</a:t>
                      </a:r>
                    </a:p>
                  </a:txBody>
                  <a:tcPr>
                    <a:solidFill>
                      <a:srgbClr val="14233C"/>
                    </a:solidFill>
                  </a:tcPr>
                </a:tc>
              </a:tr>
              <a:tr h="422910">
                <a:tc>
                  <a:txBody>
                    <a:bodyPr/>
                    <a:lstStyle/>
                    <a:p>
                      <a:pPr algn="r">
                        <a:defRPr sz="1500">
                          <a:solidFill>
                            <a:srgbClr val="282828"/>
                          </a:solidFill>
                        </a:defRPr>
                      </a:pPr>
                      <a:r>
                        <a:t>1</a:t>
                      </a:r>
                    </a:p>
                  </a:txBody>
                  <a:tcPr/>
                </a:tc>
                <a:tc>
                  <a:txBody>
                    <a:bodyPr/>
                    <a:lstStyle/>
                    <a:p>
                      <a:pPr algn="r">
                        <a:defRPr sz="1500">
                          <a:solidFill>
                            <a:srgbClr val="282828"/>
                          </a:solidFill>
                        </a:defRPr>
                      </a:pPr>
                      <a:r>
                        <a:t>1</a:t>
                      </a:r>
                    </a:p>
                  </a:txBody>
                  <a:tcPr/>
                </a:tc>
                <a:tc>
                  <a:txBody>
                    <a:bodyPr/>
                    <a:lstStyle/>
                    <a:p>
                      <a:pPr algn="r" rtl="1">
                        <a:defRPr sz="1500">
                          <a:solidFill>
                            <a:srgbClr val="282828"/>
                          </a:solidFill>
                        </a:defRPr>
                      </a:pPr>
                      <a:r>
                        <a:t>מנוי אחד, הודעה אחת</a:t>
                      </a:r>
                    </a:p>
                  </a:txBody>
                  <a:tcPr/>
                </a:tc>
              </a:tr>
              <a:tr h="422910">
                <a:tc>
                  <a:txBody>
                    <a:bodyPr/>
                    <a:lstStyle/>
                    <a:p>
                      <a:pPr algn="r">
                        <a:defRPr sz="1500">
                          <a:solidFill>
                            <a:srgbClr val="282828"/>
                          </a:solidFill>
                        </a:defRPr>
                      </a:pPr>
                      <a:r>
                        <a:t>10</a:t>
                      </a:r>
                    </a:p>
                  </a:txBody>
                  <a:tcPr/>
                </a:tc>
                <a:tc>
                  <a:txBody>
                    <a:bodyPr/>
                    <a:lstStyle/>
                    <a:p>
                      <a:pPr algn="r">
                        <a:defRPr sz="1500">
                          <a:solidFill>
                            <a:srgbClr val="282828"/>
                          </a:solidFill>
                        </a:defRPr>
                      </a:pPr>
                      <a:r>
                        <a:t>10</a:t>
                      </a:r>
                    </a:p>
                  </a:txBody>
                  <a:tcPr/>
                </a:tc>
                <a:tc>
                  <a:txBody>
                    <a:bodyPr/>
                    <a:lstStyle/>
                    <a:p>
                      <a:pPr algn="r" rtl="1">
                        <a:defRPr sz="1500">
                          <a:solidFill>
                            <a:srgbClr val="282828"/>
                          </a:solidFill>
                        </a:defRPr>
                      </a:pPr>
                      <a:r>
                        <a:t>עשרה מנויים, אותה הודעה אחת</a:t>
                      </a:r>
                    </a:p>
                  </a:txBody>
                  <a:tcPr/>
                </a:tc>
              </a:tr>
              <a:tr h="422910">
                <a:tc>
                  <a:txBody>
                    <a:bodyPr/>
                    <a:lstStyle/>
                    <a:p>
                      <a:pPr algn="r" rtl="1">
                        <a:defRPr sz="1500">
                          <a:solidFill>
                            <a:srgbClr val="282828"/>
                          </a:solidFill>
                        </a:defRPr>
                      </a:pPr>
                      <a:r>
                        <a:t>10,000 בשנייה</a:t>
                      </a:r>
                    </a:p>
                  </a:txBody>
                  <a:tcPr/>
                </a:tc>
                <a:tc>
                  <a:txBody>
                    <a:bodyPr/>
                    <a:lstStyle/>
                    <a:p>
                      <a:pPr algn="r" rtl="1">
                        <a:defRPr sz="1500">
                          <a:solidFill>
                            <a:srgbClr val="282828"/>
                          </a:solidFill>
                        </a:defRPr>
                      </a:pPr>
                      <a:r>
                        <a:t>10,000 בשנייה</a:t>
                      </a:r>
                    </a:p>
                  </a:txBody>
                  <a:tcPr/>
                </a:tc>
                <a:tc>
                  <a:txBody>
                    <a:bodyPr/>
                    <a:lstStyle/>
                    <a:p>
                      <a:pPr algn="r" rtl="1">
                        <a:defRPr sz="1500">
                          <a:solidFill>
                            <a:srgbClr val="282828"/>
                          </a:solidFill>
                        </a:defRPr>
                      </a:pPr>
                      <a:r>
                        <a:t>עשרה מנויים, 1,000 הודעות בשנייה</a:t>
                      </a:r>
                    </a:p>
                  </a:txBody>
                  <a:tcPr/>
                </a:tc>
              </a:tr>
            </a:tbl>
          </a:graphicData>
        </a:graphic>
      </p:graphicFrame>
      <p:sp>
        <p:nvSpPr>
          <p:cNvPr id="5" name="TextBox 4"/>
          <p:cNvSpPr txBox="1"/>
          <p:nvPr/>
        </p:nvSpPr>
        <p:spPr>
          <a:xfrm>
            <a:off x="640080" y="5120640"/>
            <a:ext cx="10911535" cy="822960"/>
          </a:xfrm>
          <a:prstGeom prst="rect">
            <a:avLst/>
          </a:prstGeom>
          <a:noFill/>
        </p:spPr>
        <p:txBody>
          <a:bodyPr wrap="square">
            <a:spAutoFit/>
          </a:bodyPr>
          <a:lstStyle/>
          <a:p>
            <a:pPr algn="r" rtl="1">
              <a:defRPr sz="1500" i="1">
                <a:solidFill>
                  <a:srgbClr val="007AFF"/>
                </a:solidFill>
              </a:defRPr>
            </a:pPr>
            <a:r>
              <a:t>היתרון בתמורה: מנוי חדש הוא Binding נוסף – שינוי קונפיגורציה, בלי לגעת בשולח ובלי לגעת בשאר המנויים.</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none">
            <a:spAutoFit/>
          </a:bodyPr>
          <a:lstStyle/>
          <a:p>
            <a:pPr algn="r" rtl="1">
              <a:defRPr sz="2800" b="1">
                <a:solidFill>
                  <a:srgbClr val="14233C"/>
                </a:solidFill>
              </a:defRPr>
            </a:pPr>
            <a:r>
              <a:t>כשהמנוי איטי: Backpressure</a:t>
            </a:r>
          </a:p>
        </p:txBody>
      </p:sp>
      <p:sp>
        <p:nvSpPr>
          <p:cNvPr id="3" name="TextBox 2"/>
          <p:cNvSpPr txBox="1"/>
          <p:nvPr/>
        </p:nvSpPr>
        <p:spPr>
          <a:xfrm>
            <a:off x="640080" y="1225296"/>
            <a:ext cx="10911535" cy="914400"/>
          </a:xfrm>
          <a:prstGeom prst="rect">
            <a:avLst/>
          </a:prstGeom>
          <a:noFill/>
        </p:spPr>
        <p:txBody>
          <a:bodyPr wrap="square">
            <a:spAutoFit/>
          </a:bodyPr>
          <a:lstStyle/>
          <a:p>
            <a:pPr algn="r" rtl="1"/>
            <a:r>
              <a:rPr sz="1600" b="1">
                <a:solidFill>
                  <a:srgbClr val="007AFF"/>
                </a:solidFill>
              </a:rPr>
              <a:t>Backpressure = </a:t>
            </a:r>
            <a:r>
              <a:rPr sz="1600">
                <a:solidFill>
                  <a:srgbClr val="282828"/>
                </a:solidFill>
              </a:rPr>
              <a:t>היצרן מייצר מהר יותר ממה שהצרכן מספיק לעכל. ההודעות לא נעלמות – הן נערמות.</a:t>
            </a:r>
          </a:p>
          <a:p>
            <a:pPr algn="r" rtl="1"/>
            <a:r>
              <a:rPr sz="1400" b="1">
                <a:solidFill>
                  <a:srgbClr val="C53030"/>
                </a:solidFill>
              </a:rPr>
              <a:t>והן נערמות אצל הברוקר, לא אצל הצרכן: </a:t>
            </a:r>
            <a:r>
              <a:rPr sz="1400">
                <a:solidFill>
                  <a:srgbClr val="282828"/>
                </a:solidFill>
              </a:rPr>
              <a:t>הצרכן הוא שירות נפרד שרץ אצלכם ורק מושך; התור עצמו הוא מבנה נתונים בתוך הברוקר. ההודעה תופסת את זיכרונו עד שהצרכן מסיים ומאשר אותה (ack).</a:t>
            </a:r>
          </a:p>
        </p:txBody>
      </p:sp>
      <p:sp>
        <p:nvSpPr>
          <p:cNvPr id="4" name="Rounded Rectangle 3"/>
          <p:cNvSpPr/>
          <p:nvPr/>
        </p:nvSpPr>
        <p:spPr>
          <a:xfrm>
            <a:off x="9509760" y="2240280"/>
            <a:ext cx="2377440" cy="868680"/>
          </a:xfrm>
          <a:prstGeom prst="roundRect">
            <a:avLst/>
          </a:prstGeom>
          <a:solidFill>
            <a:srgbClr val="EEF1F5"/>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300" b="1">
                <a:solidFill>
                  <a:srgbClr val="14233C"/>
                </a:solidFill>
              </a:defRPr>
            </a:pPr>
            <a:r>
              <a:t>1. הצרכן איטי</a:t>
            </a:r>
          </a:p>
          <a:p>
            <a:pPr algn="ctr" rtl="1">
              <a:defRPr sz="1100">
                <a:solidFill>
                  <a:srgbClr val="14233C"/>
                </a:solidFill>
              </a:defRPr>
            </a:pPr>
            <a:r>
              <a:t>מייצרים 1,000 בשנייה, מעכלים 800</a:t>
            </a:r>
          </a:p>
        </p:txBody>
      </p:sp>
      <p:sp>
        <p:nvSpPr>
          <p:cNvPr id="5" name="Left Arrow 4"/>
          <p:cNvSpPr/>
          <p:nvPr/>
        </p:nvSpPr>
        <p:spPr>
          <a:xfrm>
            <a:off x="8915400" y="2578608"/>
            <a:ext cx="548640" cy="219456"/>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766560" y="2240280"/>
            <a:ext cx="2377440" cy="868680"/>
          </a:xfrm>
          <a:prstGeom prst="roundRect">
            <a:avLst/>
          </a:prstGeom>
          <a:solidFill>
            <a:srgbClr val="EEF1F5"/>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300" b="1">
                <a:solidFill>
                  <a:srgbClr val="14233C"/>
                </a:solidFill>
              </a:defRPr>
            </a:pPr>
            <a:r>
              <a:t>2. התור תופח</a:t>
            </a:r>
          </a:p>
          <a:p>
            <a:pPr algn="ctr" rtl="1">
              <a:defRPr sz="1100">
                <a:solidFill>
                  <a:srgbClr val="14233C"/>
                </a:solidFill>
              </a:defRPr>
            </a:pPr>
            <a:r>
              <a:t>והוא יושב בזיכרון של הברוקר</a:t>
            </a:r>
          </a:p>
        </p:txBody>
      </p:sp>
      <p:sp>
        <p:nvSpPr>
          <p:cNvPr id="7" name="Left Arrow 6"/>
          <p:cNvSpPr/>
          <p:nvPr/>
        </p:nvSpPr>
        <p:spPr>
          <a:xfrm>
            <a:off x="6172200" y="2578608"/>
            <a:ext cx="548640" cy="219456"/>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023360" y="2240280"/>
            <a:ext cx="2377440" cy="868680"/>
          </a:xfrm>
          <a:prstGeom prst="roundRect">
            <a:avLst/>
          </a:prstGeom>
          <a:solidFill>
            <a:srgbClr val="EEF1F5"/>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300" b="1">
                <a:solidFill>
                  <a:srgbClr val="14233C"/>
                </a:solidFill>
              </a:defRPr>
            </a:pPr>
            <a:r>
              <a:t>3. זיכרון הברוקר נגמר</a:t>
            </a:r>
          </a:p>
          <a:p>
            <a:pPr algn="ctr" rtl="1">
              <a:defRPr sz="1100">
                <a:solidFill>
                  <a:srgbClr val="14233C"/>
                </a:solidFill>
              </a:defRPr>
            </a:pPr>
            <a:r>
              <a:t>הוא מחזיק את הערימה, לא הצרכן</a:t>
            </a:r>
          </a:p>
        </p:txBody>
      </p:sp>
      <p:sp>
        <p:nvSpPr>
          <p:cNvPr id="9" name="Left Arrow 8"/>
          <p:cNvSpPr/>
          <p:nvPr/>
        </p:nvSpPr>
        <p:spPr>
          <a:xfrm>
            <a:off x="3429000" y="2578608"/>
            <a:ext cx="548640" cy="219456"/>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280160" y="2240280"/>
            <a:ext cx="2377440" cy="868680"/>
          </a:xfrm>
          <a:prstGeom prst="roundRect">
            <a:avLst/>
          </a:prstGeom>
          <a:solidFill>
            <a:srgbClr val="FDEAEA"/>
          </a:solidFill>
          <a:ln w="12700">
            <a:solidFill>
              <a:srgbClr val="C5303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300" b="1">
                <a:solidFill>
                  <a:srgbClr val="C53030"/>
                </a:solidFill>
              </a:defRPr>
            </a:pPr>
            <a:r>
              <a:t>4. חסימת יצרנים</a:t>
            </a:r>
          </a:p>
          <a:p>
            <a:pPr algn="ctr" rtl="1">
              <a:defRPr sz="1100">
                <a:solidFill>
                  <a:srgbClr val="C53030"/>
                </a:solidFill>
              </a:defRPr>
            </a:pPr>
            <a:r>
              <a:t>בשרת הברוקר – כל מי שמפרסם אליו נעצר</a:t>
            </a:r>
          </a:p>
        </p:txBody>
      </p:sp>
      <p:sp>
        <p:nvSpPr>
          <p:cNvPr id="11" name="TextBox 10"/>
          <p:cNvSpPr txBox="1"/>
          <p:nvPr/>
        </p:nvSpPr>
        <p:spPr>
          <a:xfrm>
            <a:off x="640080" y="3218688"/>
            <a:ext cx="10911535" cy="457200"/>
          </a:xfrm>
          <a:prstGeom prst="rect">
            <a:avLst/>
          </a:prstGeom>
          <a:noFill/>
        </p:spPr>
        <p:txBody>
          <a:bodyPr wrap="square">
            <a:spAutoFit/>
          </a:bodyPr>
          <a:lstStyle/>
          <a:p>
            <a:pPr algn="r" rtl="1">
              <a:defRPr sz="1300" b="1">
                <a:solidFill>
                  <a:srgbClr val="C53030"/>
                </a:solidFill>
              </a:defRPr>
            </a:pPr>
            <a:r>
              <a:t>הברוקר עוצר את כל מי שמפרסם אליו, ולא רק את התור שהתפוצץ. התוצאה: גם המחסן, שהצרכן שלו בריא לגמרי, מפסיק לקבל עבודה חדשה.</a:t>
            </a:r>
          </a:p>
        </p:txBody>
      </p:sp>
      <p:sp>
        <p:nvSpPr>
          <p:cNvPr id="12" name="TextBox 11"/>
          <p:cNvSpPr txBox="1"/>
          <p:nvPr/>
        </p:nvSpPr>
        <p:spPr>
          <a:xfrm>
            <a:off x="640080" y="3794760"/>
            <a:ext cx="10911535" cy="2286000"/>
          </a:xfrm>
          <a:prstGeom prst="rect">
            <a:avLst/>
          </a:prstGeom>
          <a:noFill/>
        </p:spPr>
        <p:txBody>
          <a:bodyPr wrap="square">
            <a:spAutoFit/>
          </a:bodyPr>
          <a:lstStyle/>
          <a:p>
            <a:pPr algn="r" rtl="1">
              <a:spcAft>
                <a:spcPts val="1200"/>
              </a:spcAft>
            </a:pPr>
            <a:r>
              <a:rPr sz="1600" b="1">
                <a:solidFill>
                  <a:srgbClr val="007AFF"/>
                </a:solidFill>
              </a:rPr>
              <a:t>• ההגנה הראשונה – QoS (prefetch): </a:t>
            </a:r>
            <a:r>
              <a:rPr sz="1600" b="0">
                <a:solidFill>
                  <a:srgbClr val="282828"/>
                </a:solidFill>
              </a:rPr>
              <a:t>השם מטעה: לא איכות ולא עדיפות, אלא </a:t>
            </a:r>
            <a:r>
              <a:rPr sz="1600" b="1">
                <a:solidFill>
                  <a:srgbClr val="BE550F"/>
                </a:solidFill>
              </a:rPr>
              <a:t>מספר</a:t>
            </a:r>
            <a:r>
              <a:rPr sz="1600" b="0">
                <a:solidFill>
                  <a:srgbClr val="282828"/>
                </a:solidFill>
              </a:rPr>
              <a:t> – כמה הודעות הברוקר שולח לצרכן לפני שהוא עוצר וממתין לאישור (ack). ב-prefetch=1 הצרכן מקבל הודעה אחת בכל פעם. ערך נמוך משאיר את ההיערמות אצל הברוקר, </a:t>
            </a:r>
            <a:r>
              <a:rPr sz="1600" b="1">
                <a:solidFill>
                  <a:srgbClr val="BE550F"/>
                </a:solidFill>
              </a:rPr>
              <a:t>שיודע לנהל אותה</a:t>
            </a:r>
            <a:r>
              <a:rPr sz="1600" b="0">
                <a:solidFill>
                  <a:srgbClr val="282828"/>
                </a:solidFill>
              </a:rPr>
              <a:t>, במקום להפיל את הצרכן.</a:t>
            </a:r>
          </a:p>
          <a:p>
            <a:pPr algn="r" rtl="1">
              <a:spcAft>
                <a:spcPts val="1200"/>
              </a:spcAft>
            </a:pPr>
            <a:r>
              <a:rPr sz="1600" b="1">
                <a:solidFill>
                  <a:srgbClr val="007AFF"/>
                </a:solidFill>
              </a:rPr>
              <a:t>• ההגנה השנייה – DLQ: </a:t>
            </a:r>
            <a:r>
              <a:rPr sz="1600" b="0">
                <a:solidFill>
                  <a:srgbClr val="282828"/>
                </a:solidFill>
              </a:rPr>
              <a:t>Dead Letter Queue – הודעה שנכשלה שוב ושוב עוברת אחרי כמה ניסיונות לתור צדדי, כדי שלא תחסום את מי שמאחוריה. מה שיושב שם הוא רשימת התקלות של המערכת, וצריך להתריע עליו.</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none">
            <a:spAutoFit/>
          </a:bodyPr>
          <a:lstStyle/>
          <a:p>
            <a:pPr algn="r" rtl="1">
              <a:defRPr sz="2800" b="1">
                <a:solidFill>
                  <a:srgbClr val="14233C"/>
                </a:solidFill>
              </a:defRPr>
            </a:pPr>
            <a:r>
              <a:t>3. Topic Routing – ניתוב לפי תבנית</a:t>
            </a:r>
          </a:p>
        </p:txBody>
      </p:sp>
      <p:sp>
        <p:nvSpPr>
          <p:cNvPr id="3" name="TextBox 2"/>
          <p:cNvSpPr txBox="1"/>
          <p:nvPr/>
        </p:nvSpPr>
        <p:spPr>
          <a:xfrm>
            <a:off x="640080" y="1325880"/>
            <a:ext cx="10911535" cy="1737360"/>
          </a:xfrm>
          <a:prstGeom prst="rect">
            <a:avLst/>
          </a:prstGeom>
          <a:noFill/>
        </p:spPr>
        <p:txBody>
          <a:bodyPr wrap="square">
            <a:spAutoFit/>
          </a:bodyPr>
          <a:lstStyle/>
          <a:p>
            <a:pPr algn="r" rtl="1">
              <a:spcAft>
                <a:spcPts val="1200"/>
              </a:spcAft>
            </a:pPr>
            <a:r>
              <a:rPr sz="1800" b="1">
                <a:solidFill>
                  <a:srgbClr val="007AFF"/>
                </a:solidFill>
              </a:rPr>
              <a:t>• מה זה 'תבנית'? </a:t>
            </a:r>
            <a:r>
              <a:rPr sz="1800" b="0">
                <a:solidFill>
                  <a:srgbClr val="282828"/>
                </a:solidFill>
              </a:rPr>
              <a:t>המפתח בנוי כמו כתובת מדורגת – order.il.south: תחום, מדינה, אזור. תבנית היא אותה כתובת עם </a:t>
            </a:r>
            <a:r>
              <a:rPr sz="1800" b="1">
                <a:solidFill>
                  <a:srgbClr val="BE550F"/>
                </a:solidFill>
              </a:rPr>
              <a:t>'לא משנה לי'</a:t>
            </a:r>
            <a:r>
              <a:rPr sz="1800" b="0">
                <a:solidFill>
                  <a:srgbClr val="282828"/>
                </a:solidFill>
              </a:rPr>
              <a:t> באחד המקומות, כמו לומר לדוור 'כל מכתב מרחוב הרצל, לא חשוב איזה בית'.</a:t>
            </a:r>
          </a:p>
          <a:p>
            <a:pPr algn="r" rtl="1">
              <a:spcAft>
                <a:spcPts val="1200"/>
              </a:spcAft>
            </a:pPr>
            <a:r>
              <a:rPr sz="1800" b="1">
                <a:solidFill>
                  <a:srgbClr val="007AFF"/>
                </a:solidFill>
              </a:rPr>
              <a:t>• שני סוגים של 'לא משנה לי': </a:t>
            </a:r>
            <a:r>
              <a:rPr sz="1800" b="0">
                <a:solidFill>
                  <a:srgbClr val="282828"/>
                </a:solidFill>
              </a:rPr>
              <a:t>כוכבית * תופסת </a:t>
            </a:r>
            <a:r>
              <a:rPr sz="1800" b="1">
                <a:solidFill>
                  <a:srgbClr val="BE550F"/>
                </a:solidFill>
              </a:rPr>
              <a:t>מילה אחת בדיוק</a:t>
            </a:r>
            <a:r>
              <a:rPr sz="1800" b="0">
                <a:solidFill>
                  <a:srgbClr val="282828"/>
                </a:solidFill>
              </a:rPr>
              <a:t>. סולמית # תופסת </a:t>
            </a:r>
            <a:r>
              <a:rPr sz="1800" b="1">
                <a:solidFill>
                  <a:srgbClr val="BE550F"/>
                </a:solidFill>
              </a:rPr>
              <a:t>את כל מה שנשאר</a:t>
            </a:r>
            <a:r>
              <a:rPr sz="1800" b="0">
                <a:solidFill>
                  <a:srgbClr val="282828"/>
                </a:solidFill>
              </a:rPr>
              <a:t> – כמה מילים שיהיו, וגם אפס.</a:t>
            </a:r>
          </a:p>
        </p:txBody>
      </p:sp>
      <p:graphicFrame>
        <p:nvGraphicFramePr>
          <p:cNvPr id="4" name="Table 3"/>
          <p:cNvGraphicFramePr>
            <a:graphicFrameLocks noGrp="1"/>
          </p:cNvGraphicFramePr>
          <p:nvPr/>
        </p:nvGraphicFramePr>
        <p:xfrm>
          <a:off x="640080" y="3154680"/>
          <a:ext cx="10911535" cy="1737360"/>
        </p:xfrm>
        <a:graphic>
          <a:graphicData uri="http://schemas.openxmlformats.org/drawingml/2006/table">
            <a:tbl>
              <a:tblPr firstRow="1" bandRow="1">
                <a:tableStyleId>{5C22544A-7EE6-4342-B048-85BDC9FD1C3A}</a:tableStyleId>
              </a:tblPr>
              <a:tblGrid>
                <a:gridCol w="3637178"/>
                <a:gridCol w="3637178"/>
                <a:gridCol w="3637179"/>
              </a:tblGrid>
              <a:tr h="434340">
                <a:tc>
                  <a:txBody>
                    <a:bodyPr/>
                    <a:lstStyle/>
                    <a:p>
                      <a:pPr algn="r">
                        <a:defRPr sz="1600" b="1">
                          <a:solidFill>
                            <a:srgbClr val="FFFFFF"/>
                          </a:solidFill>
                        </a:defRPr>
                      </a:pPr>
                      <a:r>
                        <a:t>order.il.#</a:t>
                      </a:r>
                    </a:p>
                  </a:txBody>
                  <a:tcPr>
                    <a:solidFill>
                      <a:srgbClr val="14233C"/>
                    </a:solidFill>
                  </a:tcPr>
                </a:tc>
                <a:tc>
                  <a:txBody>
                    <a:bodyPr/>
                    <a:lstStyle/>
                    <a:p>
                      <a:pPr algn="r">
                        <a:defRPr sz="1600" b="1">
                          <a:solidFill>
                            <a:srgbClr val="FFFFFF"/>
                          </a:solidFill>
                        </a:defRPr>
                      </a:pPr>
                      <a:r>
                        <a:t>order.il.*</a:t>
                      </a:r>
                    </a:p>
                  </a:txBody>
                  <a:tcPr>
                    <a:solidFill>
                      <a:srgbClr val="14233C"/>
                    </a:solidFill>
                  </a:tcPr>
                </a:tc>
                <a:tc>
                  <a:txBody>
                    <a:bodyPr/>
                    <a:lstStyle/>
                    <a:p>
                      <a:pPr algn="r" rtl="1">
                        <a:defRPr sz="1600" b="1">
                          <a:solidFill>
                            <a:srgbClr val="FFFFFF"/>
                          </a:solidFill>
                        </a:defRPr>
                      </a:pPr>
                      <a:r>
                        <a:t>המפתח שמגיע</a:t>
                      </a:r>
                    </a:p>
                  </a:txBody>
                  <a:tcPr>
                    <a:solidFill>
                      <a:srgbClr val="14233C"/>
                    </a:solidFill>
                  </a:tcPr>
                </a:tc>
              </a:tr>
              <a:tr h="434340">
                <a:tc>
                  <a:txBody>
                    <a:bodyPr/>
                    <a:lstStyle/>
                    <a:p>
                      <a:pPr algn="ctr" rtl="1">
                        <a:defRPr sz="1600" b="1">
                          <a:solidFill>
                            <a:srgbClr val="1C783E"/>
                          </a:solidFill>
                        </a:defRPr>
                      </a:pPr>
                      <a:r>
                        <a:t>כן</a:t>
                      </a:r>
                    </a:p>
                  </a:txBody>
                  <a:tcPr/>
                </a:tc>
                <a:tc>
                  <a:txBody>
                    <a:bodyPr/>
                    <a:lstStyle/>
                    <a:p>
                      <a:pPr algn="ctr" rtl="1">
                        <a:defRPr sz="1600" b="1">
                          <a:solidFill>
                            <a:srgbClr val="1C783E"/>
                          </a:solidFill>
                        </a:defRPr>
                      </a:pPr>
                      <a:r>
                        <a:t>כן</a:t>
                      </a:r>
                    </a:p>
                  </a:txBody>
                  <a:tcPr/>
                </a:tc>
                <a:tc>
                  <a:txBody>
                    <a:bodyPr/>
                    <a:lstStyle/>
                    <a:p>
                      <a:pPr algn="r">
                        <a:defRPr sz="1600">
                          <a:solidFill>
                            <a:srgbClr val="282828"/>
                          </a:solidFill>
                        </a:defRPr>
                      </a:pPr>
                      <a:r>
                        <a:t>order.il.south</a:t>
                      </a:r>
                    </a:p>
                  </a:txBody>
                  <a:tcPr/>
                </a:tc>
              </a:tr>
              <a:tr h="434340">
                <a:tc>
                  <a:txBody>
                    <a:bodyPr/>
                    <a:lstStyle/>
                    <a:p>
                      <a:pPr algn="ctr" rtl="1">
                        <a:defRPr sz="1600" b="1">
                          <a:solidFill>
                            <a:srgbClr val="1C783E"/>
                          </a:solidFill>
                        </a:defRPr>
                      </a:pPr>
                      <a:r>
                        <a:t>כן</a:t>
                      </a:r>
                    </a:p>
                  </a:txBody>
                  <a:tcPr/>
                </a:tc>
                <a:tc>
                  <a:txBody>
                    <a:bodyPr/>
                    <a:lstStyle/>
                    <a:p>
                      <a:pPr algn="ctr" rtl="1">
                        <a:defRPr sz="1600" b="1">
                          <a:solidFill>
                            <a:srgbClr val="C53030"/>
                          </a:solidFill>
                        </a:defRPr>
                      </a:pPr>
                      <a:r>
                        <a:t>לא</a:t>
                      </a:r>
                    </a:p>
                  </a:txBody>
                  <a:tcPr/>
                </a:tc>
                <a:tc>
                  <a:txBody>
                    <a:bodyPr/>
                    <a:lstStyle/>
                    <a:p>
                      <a:pPr algn="r">
                        <a:defRPr sz="1600">
                          <a:solidFill>
                            <a:srgbClr val="282828"/>
                          </a:solidFill>
                        </a:defRPr>
                      </a:pPr>
                      <a:r>
                        <a:t>order.il.south.express</a:t>
                      </a:r>
                    </a:p>
                  </a:txBody>
                  <a:tcPr/>
                </a:tc>
              </a:tr>
              <a:tr h="434340">
                <a:tc>
                  <a:txBody>
                    <a:bodyPr/>
                    <a:lstStyle/>
                    <a:p>
                      <a:pPr algn="ctr" rtl="1">
                        <a:defRPr sz="1600" b="1">
                          <a:solidFill>
                            <a:srgbClr val="1C783E"/>
                          </a:solidFill>
                        </a:defRPr>
                      </a:pPr>
                      <a:r>
                        <a:t>כן</a:t>
                      </a:r>
                    </a:p>
                  </a:txBody>
                  <a:tcPr/>
                </a:tc>
                <a:tc>
                  <a:txBody>
                    <a:bodyPr/>
                    <a:lstStyle/>
                    <a:p>
                      <a:pPr algn="ctr" rtl="1">
                        <a:defRPr sz="1600" b="1">
                          <a:solidFill>
                            <a:srgbClr val="C53030"/>
                          </a:solidFill>
                        </a:defRPr>
                      </a:pPr>
                      <a:r>
                        <a:t>לא</a:t>
                      </a:r>
                    </a:p>
                  </a:txBody>
                  <a:tcPr/>
                </a:tc>
                <a:tc>
                  <a:txBody>
                    <a:bodyPr/>
                    <a:lstStyle/>
                    <a:p>
                      <a:pPr algn="r">
                        <a:defRPr sz="1600">
                          <a:solidFill>
                            <a:srgbClr val="282828"/>
                          </a:solidFill>
                        </a:defRPr>
                      </a:pPr>
                      <a:r>
                        <a:t>order.il</a:t>
                      </a:r>
                    </a:p>
                  </a:txBody>
                  <a:tcPr/>
                </a:tc>
              </a:tr>
            </a:tbl>
          </a:graphicData>
        </a:graphic>
      </p:graphicFrame>
      <p:sp>
        <p:nvSpPr>
          <p:cNvPr id="5" name="TextBox 4"/>
          <p:cNvSpPr txBox="1"/>
          <p:nvPr/>
        </p:nvSpPr>
        <p:spPr>
          <a:xfrm>
            <a:off x="640080" y="5074920"/>
            <a:ext cx="10911535" cy="822960"/>
          </a:xfrm>
          <a:prstGeom prst="rect">
            <a:avLst/>
          </a:prstGeom>
          <a:noFill/>
        </p:spPr>
        <p:txBody>
          <a:bodyPr wrap="square">
            <a:spAutoFit/>
          </a:bodyPr>
          <a:lstStyle/>
          <a:p>
            <a:pPr algn="r" rtl="1">
              <a:defRPr sz="1500" i="1">
                <a:solidFill>
                  <a:srgbClr val="007AFF"/>
                </a:solidFill>
              </a:defRPr>
            </a:pPr>
            <a:r>
              <a:t>השורה השלישית היא העיקר: # תופס גם אפס מילים. והסכנה השקטה – מוסכמת השמות הופכת לחוזה בין הצוותים, ושינוי סדר המילים שובר מנויים קיימים בלי שאף אחד יקבל שגיאה.</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none">
            <a:spAutoFit/>
          </a:bodyPr>
          <a:lstStyle/>
          <a:p>
            <a:pPr algn="r" rtl="1">
              <a:defRPr sz="2800" b="1">
                <a:solidFill>
                  <a:srgbClr val="14233C"/>
                </a:solidFill>
              </a:defRPr>
            </a:pPr>
            <a:r>
              <a:t>הזרימה, שלב 1: פקודה ← Direct</a:t>
            </a:r>
          </a:p>
        </p:txBody>
      </p:sp>
      <p:sp>
        <p:nvSpPr>
          <p:cNvPr id="3" name="Rounded Rectangle 2"/>
          <p:cNvSpPr/>
          <p:nvPr/>
        </p:nvSpPr>
        <p:spPr>
          <a:xfrm>
            <a:off x="4846320" y="1600200"/>
            <a:ext cx="4937760" cy="4160520"/>
          </a:xfrm>
          <a:prstGeom prst="roundRect">
            <a:avLst/>
          </a:prstGeom>
          <a:noFill/>
          <a:ln w="15875">
            <a:solidFill>
              <a:srgbClr val="007AFF"/>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46320" y="5422392"/>
            <a:ext cx="4937760" cy="274320"/>
          </a:xfrm>
          <a:prstGeom prst="rect">
            <a:avLst/>
          </a:prstGeom>
          <a:noFill/>
        </p:spPr>
        <p:txBody>
          <a:bodyPr wrap="none">
            <a:spAutoFit/>
          </a:bodyPr>
          <a:lstStyle/>
          <a:p>
            <a:pPr algn="ctr" rtl="1">
              <a:defRPr sz="1100" b="1">
                <a:solidFill>
                  <a:srgbClr val="007AFF"/>
                </a:solidFill>
              </a:defRPr>
            </a:pPr>
            <a:r>
              <a:t>Message Broker – שרת אחד שמכיל את שניהם</a:t>
            </a:r>
          </a:p>
        </p:txBody>
      </p:sp>
      <p:sp>
        <p:nvSpPr>
          <p:cNvPr id="5" name="TextBox 4"/>
          <p:cNvSpPr txBox="1"/>
          <p:nvPr/>
        </p:nvSpPr>
        <p:spPr>
          <a:xfrm>
            <a:off x="10424160" y="1207008"/>
            <a:ext cx="1554480" cy="274320"/>
          </a:xfrm>
          <a:prstGeom prst="rect">
            <a:avLst/>
          </a:prstGeom>
          <a:noFill/>
        </p:spPr>
        <p:txBody>
          <a:bodyPr wrap="none">
            <a:spAutoFit/>
          </a:bodyPr>
          <a:lstStyle/>
          <a:p>
            <a:pPr algn="ctr">
              <a:defRPr sz="1200" b="1">
                <a:solidFill>
                  <a:srgbClr val="007AFF"/>
                </a:solidFill>
              </a:defRPr>
            </a:pPr>
            <a:r>
              <a:t>Producer</a:t>
            </a:r>
          </a:p>
        </p:txBody>
      </p:sp>
      <p:sp>
        <p:nvSpPr>
          <p:cNvPr id="6" name="TextBox 5"/>
          <p:cNvSpPr txBox="1"/>
          <p:nvPr/>
        </p:nvSpPr>
        <p:spPr>
          <a:xfrm>
            <a:off x="7772400" y="1207008"/>
            <a:ext cx="1828800" cy="274320"/>
          </a:xfrm>
          <a:prstGeom prst="rect">
            <a:avLst/>
          </a:prstGeom>
          <a:noFill/>
        </p:spPr>
        <p:txBody>
          <a:bodyPr wrap="none">
            <a:spAutoFit/>
          </a:bodyPr>
          <a:lstStyle/>
          <a:p>
            <a:pPr algn="ctr">
              <a:defRPr sz="1200" b="1">
                <a:solidFill>
                  <a:srgbClr val="007AFF"/>
                </a:solidFill>
              </a:defRPr>
            </a:pPr>
            <a:r>
              <a:t>Exchange</a:t>
            </a:r>
          </a:p>
        </p:txBody>
      </p:sp>
      <p:sp>
        <p:nvSpPr>
          <p:cNvPr id="7" name="TextBox 6"/>
          <p:cNvSpPr txBox="1"/>
          <p:nvPr/>
        </p:nvSpPr>
        <p:spPr>
          <a:xfrm>
            <a:off x="5029200" y="1207008"/>
            <a:ext cx="1828800" cy="274320"/>
          </a:xfrm>
          <a:prstGeom prst="rect">
            <a:avLst/>
          </a:prstGeom>
          <a:noFill/>
        </p:spPr>
        <p:txBody>
          <a:bodyPr wrap="none">
            <a:spAutoFit/>
          </a:bodyPr>
          <a:lstStyle/>
          <a:p>
            <a:pPr algn="ctr">
              <a:defRPr sz="1200" b="1">
                <a:solidFill>
                  <a:srgbClr val="007AFF"/>
                </a:solidFill>
              </a:defRPr>
            </a:pPr>
            <a:r>
              <a:t>Queue</a:t>
            </a:r>
          </a:p>
        </p:txBody>
      </p:sp>
      <p:sp>
        <p:nvSpPr>
          <p:cNvPr id="8" name="TextBox 7"/>
          <p:cNvSpPr txBox="1"/>
          <p:nvPr/>
        </p:nvSpPr>
        <p:spPr>
          <a:xfrm>
            <a:off x="1463040" y="1207008"/>
            <a:ext cx="2194560" cy="274320"/>
          </a:xfrm>
          <a:prstGeom prst="rect">
            <a:avLst/>
          </a:prstGeom>
          <a:noFill/>
        </p:spPr>
        <p:txBody>
          <a:bodyPr wrap="none">
            <a:spAutoFit/>
          </a:bodyPr>
          <a:lstStyle/>
          <a:p>
            <a:pPr algn="ctr">
              <a:defRPr sz="1200" b="1">
                <a:solidFill>
                  <a:srgbClr val="007AFF"/>
                </a:solidFill>
              </a:defRPr>
            </a:pPr>
            <a:r>
              <a:t>Consumer</a:t>
            </a:r>
          </a:p>
        </p:txBody>
      </p:sp>
      <p:sp>
        <p:nvSpPr>
          <p:cNvPr id="9" name="Rounded Rectangle 8"/>
          <p:cNvSpPr/>
          <p:nvPr/>
        </p:nvSpPr>
        <p:spPr>
          <a:xfrm>
            <a:off x="10424160" y="3063240"/>
            <a:ext cx="1554480" cy="914400"/>
          </a:xfrm>
          <a:prstGeom prst="roundRect">
            <a:avLst/>
          </a:prstGeom>
          <a:solidFill>
            <a:srgbClr val="007AFF"/>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200" b="1">
                <a:solidFill>
                  <a:srgbClr val="FFFFFF"/>
                </a:solidFill>
              </a:defRPr>
            </a:pPr>
            <a:r>
              <a:t>שירות ההזמנות</a:t>
            </a:r>
          </a:p>
          <a:p>
            <a:pPr algn="ctr" rtl="1">
              <a:defRPr sz="1000">
                <a:solidFill>
                  <a:srgbClr val="FFFFFF"/>
                </a:solidFill>
              </a:defRPr>
            </a:pPr>
            <a:r>
              <a:t>מפרסם OrderPlaced</a:t>
            </a:r>
          </a:p>
        </p:txBody>
      </p:sp>
      <p:sp>
        <p:nvSpPr>
          <p:cNvPr id="10" name="Rectangle 9"/>
          <p:cNvSpPr/>
          <p:nvPr/>
        </p:nvSpPr>
        <p:spPr>
          <a:xfrm>
            <a:off x="10012680" y="2080260"/>
            <a:ext cx="45720" cy="2880360"/>
          </a:xfrm>
          <a:prstGeom prst="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012680" y="3493008"/>
            <a:ext cx="411480" cy="54864"/>
          </a:xfrm>
          <a:prstGeom prst="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eft Arrow 11"/>
          <p:cNvSpPr/>
          <p:nvPr/>
        </p:nvSpPr>
        <p:spPr>
          <a:xfrm>
            <a:off x="9601200" y="1952243"/>
            <a:ext cx="411480" cy="256032"/>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eft Arrow 12"/>
          <p:cNvSpPr/>
          <p:nvPr/>
        </p:nvSpPr>
        <p:spPr>
          <a:xfrm>
            <a:off x="6949440" y="1952243"/>
            <a:ext cx="822960" cy="256032"/>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ft Arrow 13"/>
          <p:cNvSpPr/>
          <p:nvPr/>
        </p:nvSpPr>
        <p:spPr>
          <a:xfrm>
            <a:off x="9601200" y="3392424"/>
            <a:ext cx="411480" cy="256032"/>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Left Arrow 14"/>
          <p:cNvSpPr/>
          <p:nvPr/>
        </p:nvSpPr>
        <p:spPr>
          <a:xfrm>
            <a:off x="6949440" y="3392424"/>
            <a:ext cx="822960" cy="256032"/>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Left Arrow 15"/>
          <p:cNvSpPr/>
          <p:nvPr/>
        </p:nvSpPr>
        <p:spPr>
          <a:xfrm>
            <a:off x="9601200" y="4832604"/>
            <a:ext cx="411480" cy="256032"/>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ft Arrow 16"/>
          <p:cNvSpPr/>
          <p:nvPr/>
        </p:nvSpPr>
        <p:spPr>
          <a:xfrm>
            <a:off x="6949440" y="4832604"/>
            <a:ext cx="822960" cy="256032"/>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772400" y="1737360"/>
            <a:ext cx="1828800" cy="685800"/>
          </a:xfrm>
          <a:prstGeom prst="roundRect">
            <a:avLst/>
          </a:prstGeom>
          <a:solidFill>
            <a:srgbClr val="14233C"/>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FFFFFF"/>
                </a:solidFill>
              </a:defRPr>
            </a:pPr>
            <a:r>
              <a:t>Direct</a:t>
            </a:r>
          </a:p>
        </p:txBody>
      </p:sp>
      <p:sp>
        <p:nvSpPr>
          <p:cNvPr id="19" name="Rounded Rectangle 18"/>
          <p:cNvSpPr/>
          <p:nvPr/>
        </p:nvSpPr>
        <p:spPr>
          <a:xfrm>
            <a:off x="7772400" y="3177540"/>
            <a:ext cx="1828800" cy="6858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BCC0C6"/>
                </a:solidFill>
              </a:defRPr>
            </a:pPr>
            <a:r>
              <a:t>Fanout</a:t>
            </a:r>
          </a:p>
        </p:txBody>
      </p:sp>
      <p:sp>
        <p:nvSpPr>
          <p:cNvPr id="20" name="Rounded Rectangle 19"/>
          <p:cNvSpPr/>
          <p:nvPr/>
        </p:nvSpPr>
        <p:spPr>
          <a:xfrm>
            <a:off x="7772400" y="4617720"/>
            <a:ext cx="1828800" cy="6858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BCC0C6"/>
                </a:solidFill>
              </a:defRPr>
            </a:pPr>
            <a:r>
              <a:t>Topic</a:t>
            </a:r>
          </a:p>
        </p:txBody>
      </p:sp>
      <p:sp>
        <p:nvSpPr>
          <p:cNvPr id="21" name="TextBox 20"/>
          <p:cNvSpPr txBox="1"/>
          <p:nvPr/>
        </p:nvSpPr>
        <p:spPr>
          <a:xfrm>
            <a:off x="6876288" y="1604772"/>
            <a:ext cx="877824" cy="256032"/>
          </a:xfrm>
          <a:prstGeom prst="rect">
            <a:avLst/>
          </a:prstGeom>
          <a:noFill/>
        </p:spPr>
        <p:txBody>
          <a:bodyPr wrap="none">
            <a:spAutoFit/>
          </a:bodyPr>
          <a:lstStyle/>
          <a:p>
            <a:pPr algn="ctr">
              <a:defRPr sz="900">
                <a:solidFill>
                  <a:srgbClr val="282828"/>
                </a:solidFill>
              </a:defRPr>
            </a:pPr>
            <a:r>
              <a:t>orders.charge</a:t>
            </a:r>
          </a:p>
        </p:txBody>
      </p:sp>
      <p:sp>
        <p:nvSpPr>
          <p:cNvPr id="22" name="TextBox 21"/>
          <p:cNvSpPr txBox="1"/>
          <p:nvPr/>
        </p:nvSpPr>
        <p:spPr>
          <a:xfrm>
            <a:off x="6876288" y="3044952"/>
            <a:ext cx="877824" cy="256032"/>
          </a:xfrm>
          <a:prstGeom prst="rect">
            <a:avLst/>
          </a:prstGeom>
          <a:noFill/>
        </p:spPr>
        <p:txBody>
          <a:bodyPr wrap="none">
            <a:spAutoFit/>
          </a:bodyPr>
          <a:lstStyle/>
          <a:p>
            <a:pPr algn="ctr" rtl="1">
              <a:defRPr sz="900">
                <a:solidFill>
                  <a:srgbClr val="BCC0C6"/>
                </a:solidFill>
              </a:defRPr>
            </a:pPr>
            <a:r>
              <a:t>ללא מפתח</a:t>
            </a:r>
          </a:p>
        </p:txBody>
      </p:sp>
      <p:sp>
        <p:nvSpPr>
          <p:cNvPr id="23" name="TextBox 22"/>
          <p:cNvSpPr txBox="1"/>
          <p:nvPr/>
        </p:nvSpPr>
        <p:spPr>
          <a:xfrm>
            <a:off x="6876288" y="4485131"/>
            <a:ext cx="877824" cy="256032"/>
          </a:xfrm>
          <a:prstGeom prst="rect">
            <a:avLst/>
          </a:prstGeom>
          <a:noFill/>
        </p:spPr>
        <p:txBody>
          <a:bodyPr wrap="none">
            <a:spAutoFit/>
          </a:bodyPr>
          <a:lstStyle/>
          <a:p>
            <a:pPr algn="ctr">
              <a:defRPr sz="900">
                <a:solidFill>
                  <a:srgbClr val="BCC0C6"/>
                </a:solidFill>
              </a:defRPr>
            </a:pPr>
            <a:r>
              <a:t>order.il.south.#</a:t>
            </a:r>
          </a:p>
        </p:txBody>
      </p:sp>
      <p:sp>
        <p:nvSpPr>
          <p:cNvPr id="24" name="Rounded Rectangle 23"/>
          <p:cNvSpPr/>
          <p:nvPr/>
        </p:nvSpPr>
        <p:spPr>
          <a:xfrm>
            <a:off x="5029200" y="1737360"/>
            <a:ext cx="1828800" cy="685800"/>
          </a:xfrm>
          <a:prstGeom prst="roundRect">
            <a:avLst/>
          </a:prstGeom>
          <a:solidFill>
            <a:srgbClr val="EEF1F5"/>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14233C"/>
                </a:solidFill>
              </a:defRPr>
            </a:pPr>
            <a:r>
              <a:t>charge-queue</a:t>
            </a:r>
          </a:p>
        </p:txBody>
      </p:sp>
      <p:sp>
        <p:nvSpPr>
          <p:cNvPr id="25" name="Rounded Rectangle 24"/>
          <p:cNvSpPr/>
          <p:nvPr/>
        </p:nvSpPr>
        <p:spPr>
          <a:xfrm>
            <a:off x="1463040" y="1737360"/>
            <a:ext cx="2194560" cy="685800"/>
          </a:xfrm>
          <a:prstGeom prst="roundRect">
            <a:avLst/>
          </a:prstGeom>
          <a:solidFill>
            <a:srgbClr val="EEF1F5"/>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300" b="1">
                <a:solidFill>
                  <a:srgbClr val="14233C"/>
                </a:solidFill>
              </a:defRPr>
            </a:pPr>
            <a:r>
              <a:t>עשרה Workers</a:t>
            </a:r>
          </a:p>
          <a:p>
            <a:pPr algn="ctr" rtl="1">
              <a:defRPr sz="1100">
                <a:solidFill>
                  <a:srgbClr val="14233C"/>
                </a:solidFill>
              </a:defRPr>
            </a:pPr>
            <a:r>
              <a:t>חיוב הכרטיס</a:t>
            </a:r>
          </a:p>
        </p:txBody>
      </p:sp>
      <p:sp>
        <p:nvSpPr>
          <p:cNvPr id="26" name="Left Arrow 25"/>
          <p:cNvSpPr/>
          <p:nvPr/>
        </p:nvSpPr>
        <p:spPr>
          <a:xfrm>
            <a:off x="3931920" y="1979676"/>
            <a:ext cx="914400" cy="201168"/>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029200" y="2743200"/>
            <a:ext cx="1828800" cy="4572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a:solidFill>
                  <a:srgbClr val="BCC0C6"/>
                </a:solidFill>
              </a:defRPr>
            </a:pPr>
            <a:r>
              <a:t>warehouse</a:t>
            </a:r>
          </a:p>
        </p:txBody>
      </p:sp>
      <p:sp>
        <p:nvSpPr>
          <p:cNvPr id="28" name="Rounded Rectangle 27"/>
          <p:cNvSpPr/>
          <p:nvPr/>
        </p:nvSpPr>
        <p:spPr>
          <a:xfrm>
            <a:off x="1463040" y="2743200"/>
            <a:ext cx="2194560" cy="4572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100" b="1">
                <a:solidFill>
                  <a:srgbClr val="BCC0C6"/>
                </a:solidFill>
              </a:defRPr>
            </a:pPr>
            <a:r>
              <a:t>מחסן</a:t>
            </a:r>
          </a:p>
        </p:txBody>
      </p:sp>
      <p:sp>
        <p:nvSpPr>
          <p:cNvPr id="29" name="Left Arrow 28"/>
          <p:cNvSpPr/>
          <p:nvPr/>
        </p:nvSpPr>
        <p:spPr>
          <a:xfrm>
            <a:off x="3931920" y="2871216"/>
            <a:ext cx="914400" cy="201168"/>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029200" y="3291840"/>
            <a:ext cx="1828800" cy="4572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a:solidFill>
                  <a:srgbClr val="BCC0C6"/>
                </a:solidFill>
              </a:defRPr>
            </a:pPr>
            <a:r>
              <a:t>analytics</a:t>
            </a:r>
          </a:p>
        </p:txBody>
      </p:sp>
      <p:sp>
        <p:nvSpPr>
          <p:cNvPr id="31" name="Rounded Rectangle 30"/>
          <p:cNvSpPr/>
          <p:nvPr/>
        </p:nvSpPr>
        <p:spPr>
          <a:xfrm>
            <a:off x="1463040" y="3291840"/>
            <a:ext cx="2194560" cy="4572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100" b="1">
                <a:solidFill>
                  <a:srgbClr val="BCC0C6"/>
                </a:solidFill>
              </a:defRPr>
            </a:pPr>
            <a:r>
              <a:t>אנליטיקה</a:t>
            </a:r>
          </a:p>
        </p:txBody>
      </p:sp>
      <p:sp>
        <p:nvSpPr>
          <p:cNvPr id="32" name="Left Arrow 31"/>
          <p:cNvSpPr/>
          <p:nvPr/>
        </p:nvSpPr>
        <p:spPr>
          <a:xfrm>
            <a:off x="3931920" y="3419856"/>
            <a:ext cx="914400" cy="201168"/>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5029200" y="3840480"/>
            <a:ext cx="1828800" cy="4572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a:solidFill>
                  <a:srgbClr val="BCC0C6"/>
                </a:solidFill>
              </a:defRPr>
            </a:pPr>
            <a:r>
              <a:t>sms</a:t>
            </a:r>
          </a:p>
        </p:txBody>
      </p:sp>
      <p:sp>
        <p:nvSpPr>
          <p:cNvPr id="34" name="Rounded Rectangle 33"/>
          <p:cNvSpPr/>
          <p:nvPr/>
        </p:nvSpPr>
        <p:spPr>
          <a:xfrm>
            <a:off x="1463040" y="3840480"/>
            <a:ext cx="2194560" cy="4572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100" b="1">
                <a:solidFill>
                  <a:srgbClr val="BCC0C6"/>
                </a:solidFill>
              </a:defRPr>
            </a:pPr>
            <a:r>
              <a:t>SMS ללקוח</a:t>
            </a:r>
          </a:p>
        </p:txBody>
      </p:sp>
      <p:sp>
        <p:nvSpPr>
          <p:cNvPr id="35" name="Left Arrow 34"/>
          <p:cNvSpPr/>
          <p:nvPr/>
        </p:nvSpPr>
        <p:spPr>
          <a:xfrm>
            <a:off x="3931920" y="3968496"/>
            <a:ext cx="914400" cy="201168"/>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029200" y="4617720"/>
            <a:ext cx="1828800" cy="6858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BCC0C6"/>
                </a:solidFill>
              </a:defRPr>
            </a:pPr>
            <a:r>
              <a:t>south-queue</a:t>
            </a:r>
          </a:p>
        </p:txBody>
      </p:sp>
      <p:sp>
        <p:nvSpPr>
          <p:cNvPr id="37" name="Rounded Rectangle 36"/>
          <p:cNvSpPr/>
          <p:nvPr/>
        </p:nvSpPr>
        <p:spPr>
          <a:xfrm>
            <a:off x="1463040" y="4617720"/>
            <a:ext cx="2194560" cy="6858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300" b="1">
                <a:solidFill>
                  <a:srgbClr val="BCC0C6"/>
                </a:solidFill>
              </a:defRPr>
            </a:pPr>
            <a:r>
              <a:t>מחסן באר שבע</a:t>
            </a:r>
          </a:p>
          <a:p>
            <a:pPr algn="ctr" rtl="1">
              <a:defRPr sz="1100">
                <a:solidFill>
                  <a:srgbClr val="BCC0C6"/>
                </a:solidFill>
              </a:defRPr>
            </a:pPr>
            <a:r>
              <a:t>רק הזמנות הדרום</a:t>
            </a:r>
          </a:p>
        </p:txBody>
      </p:sp>
      <p:sp>
        <p:nvSpPr>
          <p:cNvPr id="38" name="Left Arrow 37"/>
          <p:cNvSpPr/>
          <p:nvPr/>
        </p:nvSpPr>
        <p:spPr>
          <a:xfrm>
            <a:off x="3931920" y="4860036"/>
            <a:ext cx="914400" cy="201168"/>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5815584"/>
            <a:ext cx="10911535" cy="914400"/>
          </a:xfrm>
          <a:prstGeom prst="rect">
            <a:avLst/>
          </a:prstGeom>
          <a:noFill/>
        </p:spPr>
        <p:txBody>
          <a:bodyPr wrap="square">
            <a:spAutoFit/>
          </a:bodyPr>
          <a:lstStyle/>
          <a:p>
            <a:pPr algn="r" rtl="1">
              <a:defRPr sz="1100" i="1" b="0">
                <a:solidFill>
                  <a:srgbClr val="007AFF"/>
                </a:solidFill>
              </a:defRPr>
            </a:pPr>
            <a:r>
              <a:t>Exchange – שולחן המיון בתוך הברוקר: היצרן שולח אליו ולא לתור, והוא מחליט מי מקבל עותק.   |   Queue – התור שבו ההודעה ממתינה עד שהצרכן פנוי.</a:t>
            </a:r>
          </a:p>
          <a:p>
            <a:pPr algn="r" rtl="1">
              <a:defRPr sz="1100" i="1" b="0">
                <a:solidFill>
                  <a:srgbClr val="007AFF"/>
                </a:solidFill>
              </a:defRPr>
            </a:pPr>
            <a:r>
              <a:t>Binding – החוק שמחבר Exchange לתור, והמחרוזת שעל החץ היא הקריטריון שלו. לדוגמה: 'כל הודעה שמפתחה orders.charge ← עותק ל-charge-queue'. את החוק רושם השירות שקורא מהתור – המחסן מצהיר על warehouse ורושם את החוק שלו – ולא השולח. לכן מנוי חדש אינו נוגע בקוד של היצרן.</a:t>
            </a:r>
          </a:p>
          <a:p>
            <a:pPr algn="r" rtl="1">
              <a:defRPr sz="1100" i="1" b="0">
                <a:solidFill>
                  <a:srgbClr val="007AFF"/>
                </a:solidFill>
              </a:defRPr>
            </a:pPr>
            <a:r>
              <a:t>Consumer – מי שמעבד בפועל, ורץ מחוץ לברוקר. היצרן לא מכיר אף אחד מהם, וזו כל הנקודה.</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none">
            <a:spAutoFit/>
          </a:bodyPr>
          <a:lstStyle/>
          <a:p>
            <a:pPr algn="r" rtl="1">
              <a:defRPr sz="2800" b="1">
                <a:solidFill>
                  <a:srgbClr val="14233C"/>
                </a:solidFill>
              </a:defRPr>
            </a:pPr>
            <a:r>
              <a:t>הזרימה, שלב 2: אירוע ← Fanout</a:t>
            </a:r>
          </a:p>
        </p:txBody>
      </p:sp>
      <p:sp>
        <p:nvSpPr>
          <p:cNvPr id="3" name="Rounded Rectangle 2"/>
          <p:cNvSpPr/>
          <p:nvPr/>
        </p:nvSpPr>
        <p:spPr>
          <a:xfrm>
            <a:off x="4846320" y="1600200"/>
            <a:ext cx="4937760" cy="4160520"/>
          </a:xfrm>
          <a:prstGeom prst="roundRect">
            <a:avLst/>
          </a:prstGeom>
          <a:noFill/>
          <a:ln w="15875">
            <a:solidFill>
              <a:srgbClr val="007AFF"/>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46320" y="5422392"/>
            <a:ext cx="4937760" cy="274320"/>
          </a:xfrm>
          <a:prstGeom prst="rect">
            <a:avLst/>
          </a:prstGeom>
          <a:noFill/>
        </p:spPr>
        <p:txBody>
          <a:bodyPr wrap="none">
            <a:spAutoFit/>
          </a:bodyPr>
          <a:lstStyle/>
          <a:p>
            <a:pPr algn="ctr" rtl="1">
              <a:defRPr sz="1100" b="1">
                <a:solidFill>
                  <a:srgbClr val="007AFF"/>
                </a:solidFill>
              </a:defRPr>
            </a:pPr>
            <a:r>
              <a:t>Message Broker – שרת אחד שמכיל את שניהם</a:t>
            </a:r>
          </a:p>
        </p:txBody>
      </p:sp>
      <p:sp>
        <p:nvSpPr>
          <p:cNvPr id="5" name="TextBox 4"/>
          <p:cNvSpPr txBox="1"/>
          <p:nvPr/>
        </p:nvSpPr>
        <p:spPr>
          <a:xfrm>
            <a:off x="10424160" y="1207008"/>
            <a:ext cx="1554480" cy="274320"/>
          </a:xfrm>
          <a:prstGeom prst="rect">
            <a:avLst/>
          </a:prstGeom>
          <a:noFill/>
        </p:spPr>
        <p:txBody>
          <a:bodyPr wrap="none">
            <a:spAutoFit/>
          </a:bodyPr>
          <a:lstStyle/>
          <a:p>
            <a:pPr algn="ctr">
              <a:defRPr sz="1200" b="1">
                <a:solidFill>
                  <a:srgbClr val="007AFF"/>
                </a:solidFill>
              </a:defRPr>
            </a:pPr>
            <a:r>
              <a:t>Producer</a:t>
            </a:r>
          </a:p>
        </p:txBody>
      </p:sp>
      <p:sp>
        <p:nvSpPr>
          <p:cNvPr id="6" name="TextBox 5"/>
          <p:cNvSpPr txBox="1"/>
          <p:nvPr/>
        </p:nvSpPr>
        <p:spPr>
          <a:xfrm>
            <a:off x="7772400" y="1207008"/>
            <a:ext cx="1828800" cy="274320"/>
          </a:xfrm>
          <a:prstGeom prst="rect">
            <a:avLst/>
          </a:prstGeom>
          <a:noFill/>
        </p:spPr>
        <p:txBody>
          <a:bodyPr wrap="none">
            <a:spAutoFit/>
          </a:bodyPr>
          <a:lstStyle/>
          <a:p>
            <a:pPr algn="ctr">
              <a:defRPr sz="1200" b="1">
                <a:solidFill>
                  <a:srgbClr val="007AFF"/>
                </a:solidFill>
              </a:defRPr>
            </a:pPr>
            <a:r>
              <a:t>Exchange</a:t>
            </a:r>
          </a:p>
        </p:txBody>
      </p:sp>
      <p:sp>
        <p:nvSpPr>
          <p:cNvPr id="7" name="TextBox 6"/>
          <p:cNvSpPr txBox="1"/>
          <p:nvPr/>
        </p:nvSpPr>
        <p:spPr>
          <a:xfrm>
            <a:off x="5029200" y="1207008"/>
            <a:ext cx="1828800" cy="274320"/>
          </a:xfrm>
          <a:prstGeom prst="rect">
            <a:avLst/>
          </a:prstGeom>
          <a:noFill/>
        </p:spPr>
        <p:txBody>
          <a:bodyPr wrap="none">
            <a:spAutoFit/>
          </a:bodyPr>
          <a:lstStyle/>
          <a:p>
            <a:pPr algn="ctr">
              <a:defRPr sz="1200" b="1">
                <a:solidFill>
                  <a:srgbClr val="007AFF"/>
                </a:solidFill>
              </a:defRPr>
            </a:pPr>
            <a:r>
              <a:t>Queue</a:t>
            </a:r>
          </a:p>
        </p:txBody>
      </p:sp>
      <p:sp>
        <p:nvSpPr>
          <p:cNvPr id="8" name="TextBox 7"/>
          <p:cNvSpPr txBox="1"/>
          <p:nvPr/>
        </p:nvSpPr>
        <p:spPr>
          <a:xfrm>
            <a:off x="1463040" y="1207008"/>
            <a:ext cx="2194560" cy="274320"/>
          </a:xfrm>
          <a:prstGeom prst="rect">
            <a:avLst/>
          </a:prstGeom>
          <a:noFill/>
        </p:spPr>
        <p:txBody>
          <a:bodyPr wrap="none">
            <a:spAutoFit/>
          </a:bodyPr>
          <a:lstStyle/>
          <a:p>
            <a:pPr algn="ctr">
              <a:defRPr sz="1200" b="1">
                <a:solidFill>
                  <a:srgbClr val="007AFF"/>
                </a:solidFill>
              </a:defRPr>
            </a:pPr>
            <a:r>
              <a:t>Consumer</a:t>
            </a:r>
          </a:p>
        </p:txBody>
      </p:sp>
      <p:sp>
        <p:nvSpPr>
          <p:cNvPr id="9" name="Rounded Rectangle 8"/>
          <p:cNvSpPr/>
          <p:nvPr/>
        </p:nvSpPr>
        <p:spPr>
          <a:xfrm>
            <a:off x="10424160" y="3063240"/>
            <a:ext cx="1554480" cy="914400"/>
          </a:xfrm>
          <a:prstGeom prst="roundRect">
            <a:avLst/>
          </a:prstGeom>
          <a:solidFill>
            <a:srgbClr val="007AFF"/>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200" b="1">
                <a:solidFill>
                  <a:srgbClr val="FFFFFF"/>
                </a:solidFill>
              </a:defRPr>
            </a:pPr>
            <a:r>
              <a:t>שירות ההזמנות</a:t>
            </a:r>
          </a:p>
          <a:p>
            <a:pPr algn="ctr" rtl="1">
              <a:defRPr sz="1000">
                <a:solidFill>
                  <a:srgbClr val="FFFFFF"/>
                </a:solidFill>
              </a:defRPr>
            </a:pPr>
            <a:r>
              <a:t>מפרסם OrderPlaced</a:t>
            </a:r>
          </a:p>
        </p:txBody>
      </p:sp>
      <p:sp>
        <p:nvSpPr>
          <p:cNvPr id="10" name="Rectangle 9"/>
          <p:cNvSpPr/>
          <p:nvPr/>
        </p:nvSpPr>
        <p:spPr>
          <a:xfrm>
            <a:off x="10012680" y="2080260"/>
            <a:ext cx="45720" cy="2880360"/>
          </a:xfrm>
          <a:prstGeom prst="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012680" y="3493008"/>
            <a:ext cx="411480" cy="54864"/>
          </a:xfrm>
          <a:prstGeom prst="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eft Arrow 11"/>
          <p:cNvSpPr/>
          <p:nvPr/>
        </p:nvSpPr>
        <p:spPr>
          <a:xfrm>
            <a:off x="9601200" y="1952243"/>
            <a:ext cx="411480" cy="256032"/>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eft Arrow 12"/>
          <p:cNvSpPr/>
          <p:nvPr/>
        </p:nvSpPr>
        <p:spPr>
          <a:xfrm>
            <a:off x="6949440" y="1952243"/>
            <a:ext cx="822960" cy="256032"/>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ft Arrow 13"/>
          <p:cNvSpPr/>
          <p:nvPr/>
        </p:nvSpPr>
        <p:spPr>
          <a:xfrm>
            <a:off x="9601200" y="3392424"/>
            <a:ext cx="411480" cy="256032"/>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Left Arrow 14"/>
          <p:cNvSpPr/>
          <p:nvPr/>
        </p:nvSpPr>
        <p:spPr>
          <a:xfrm>
            <a:off x="6949440" y="3392424"/>
            <a:ext cx="822960" cy="256032"/>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Left Arrow 15"/>
          <p:cNvSpPr/>
          <p:nvPr/>
        </p:nvSpPr>
        <p:spPr>
          <a:xfrm>
            <a:off x="9601200" y="4832604"/>
            <a:ext cx="411480" cy="256032"/>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ft Arrow 16"/>
          <p:cNvSpPr/>
          <p:nvPr/>
        </p:nvSpPr>
        <p:spPr>
          <a:xfrm>
            <a:off x="6949440" y="4832604"/>
            <a:ext cx="822960" cy="256032"/>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772400" y="1737360"/>
            <a:ext cx="1828800" cy="6858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BCC0C6"/>
                </a:solidFill>
              </a:defRPr>
            </a:pPr>
            <a:r>
              <a:t>Direct</a:t>
            </a:r>
          </a:p>
        </p:txBody>
      </p:sp>
      <p:sp>
        <p:nvSpPr>
          <p:cNvPr id="19" name="Rounded Rectangle 18"/>
          <p:cNvSpPr/>
          <p:nvPr/>
        </p:nvSpPr>
        <p:spPr>
          <a:xfrm>
            <a:off x="7772400" y="3177540"/>
            <a:ext cx="1828800" cy="685800"/>
          </a:xfrm>
          <a:prstGeom prst="roundRect">
            <a:avLst/>
          </a:prstGeom>
          <a:solidFill>
            <a:srgbClr val="14233C"/>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FFFFFF"/>
                </a:solidFill>
              </a:defRPr>
            </a:pPr>
            <a:r>
              <a:t>Fanout</a:t>
            </a:r>
          </a:p>
        </p:txBody>
      </p:sp>
      <p:sp>
        <p:nvSpPr>
          <p:cNvPr id="20" name="Rounded Rectangle 19"/>
          <p:cNvSpPr/>
          <p:nvPr/>
        </p:nvSpPr>
        <p:spPr>
          <a:xfrm>
            <a:off x="7772400" y="4617720"/>
            <a:ext cx="1828800" cy="6858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BCC0C6"/>
                </a:solidFill>
              </a:defRPr>
            </a:pPr>
            <a:r>
              <a:t>Topic</a:t>
            </a:r>
          </a:p>
        </p:txBody>
      </p:sp>
      <p:sp>
        <p:nvSpPr>
          <p:cNvPr id="21" name="TextBox 20"/>
          <p:cNvSpPr txBox="1"/>
          <p:nvPr/>
        </p:nvSpPr>
        <p:spPr>
          <a:xfrm>
            <a:off x="6876288" y="1604772"/>
            <a:ext cx="877824" cy="256032"/>
          </a:xfrm>
          <a:prstGeom prst="rect">
            <a:avLst/>
          </a:prstGeom>
          <a:noFill/>
        </p:spPr>
        <p:txBody>
          <a:bodyPr wrap="none">
            <a:spAutoFit/>
          </a:bodyPr>
          <a:lstStyle/>
          <a:p>
            <a:pPr algn="ctr">
              <a:defRPr sz="900">
                <a:solidFill>
                  <a:srgbClr val="BCC0C6"/>
                </a:solidFill>
              </a:defRPr>
            </a:pPr>
            <a:r>
              <a:t>orders.charge</a:t>
            </a:r>
          </a:p>
        </p:txBody>
      </p:sp>
      <p:sp>
        <p:nvSpPr>
          <p:cNvPr id="22" name="TextBox 21"/>
          <p:cNvSpPr txBox="1"/>
          <p:nvPr/>
        </p:nvSpPr>
        <p:spPr>
          <a:xfrm>
            <a:off x="6876288" y="3044952"/>
            <a:ext cx="877824" cy="256032"/>
          </a:xfrm>
          <a:prstGeom prst="rect">
            <a:avLst/>
          </a:prstGeom>
          <a:noFill/>
        </p:spPr>
        <p:txBody>
          <a:bodyPr wrap="none">
            <a:spAutoFit/>
          </a:bodyPr>
          <a:lstStyle/>
          <a:p>
            <a:pPr algn="ctr" rtl="1">
              <a:defRPr sz="900">
                <a:solidFill>
                  <a:srgbClr val="282828"/>
                </a:solidFill>
              </a:defRPr>
            </a:pPr>
            <a:r>
              <a:t>ללא מפתח</a:t>
            </a:r>
          </a:p>
        </p:txBody>
      </p:sp>
      <p:sp>
        <p:nvSpPr>
          <p:cNvPr id="23" name="TextBox 22"/>
          <p:cNvSpPr txBox="1"/>
          <p:nvPr/>
        </p:nvSpPr>
        <p:spPr>
          <a:xfrm>
            <a:off x="6876288" y="4485131"/>
            <a:ext cx="877824" cy="256032"/>
          </a:xfrm>
          <a:prstGeom prst="rect">
            <a:avLst/>
          </a:prstGeom>
          <a:noFill/>
        </p:spPr>
        <p:txBody>
          <a:bodyPr wrap="none">
            <a:spAutoFit/>
          </a:bodyPr>
          <a:lstStyle/>
          <a:p>
            <a:pPr algn="ctr">
              <a:defRPr sz="900">
                <a:solidFill>
                  <a:srgbClr val="BCC0C6"/>
                </a:solidFill>
              </a:defRPr>
            </a:pPr>
            <a:r>
              <a:t>order.il.south.#</a:t>
            </a:r>
          </a:p>
        </p:txBody>
      </p:sp>
      <p:sp>
        <p:nvSpPr>
          <p:cNvPr id="24" name="Rounded Rectangle 23"/>
          <p:cNvSpPr/>
          <p:nvPr/>
        </p:nvSpPr>
        <p:spPr>
          <a:xfrm>
            <a:off x="5029200" y="1737360"/>
            <a:ext cx="1828800" cy="6858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BCC0C6"/>
                </a:solidFill>
              </a:defRPr>
            </a:pPr>
            <a:r>
              <a:t>charge-queue</a:t>
            </a:r>
          </a:p>
        </p:txBody>
      </p:sp>
      <p:sp>
        <p:nvSpPr>
          <p:cNvPr id="25" name="Rounded Rectangle 24"/>
          <p:cNvSpPr/>
          <p:nvPr/>
        </p:nvSpPr>
        <p:spPr>
          <a:xfrm>
            <a:off x="1463040" y="1737360"/>
            <a:ext cx="2194560" cy="6858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300" b="1">
                <a:solidFill>
                  <a:srgbClr val="BCC0C6"/>
                </a:solidFill>
              </a:defRPr>
            </a:pPr>
            <a:r>
              <a:t>עשרה Workers</a:t>
            </a:r>
          </a:p>
          <a:p>
            <a:pPr algn="ctr" rtl="1">
              <a:defRPr sz="1100">
                <a:solidFill>
                  <a:srgbClr val="BCC0C6"/>
                </a:solidFill>
              </a:defRPr>
            </a:pPr>
            <a:r>
              <a:t>חיוב הכרטיס</a:t>
            </a:r>
          </a:p>
        </p:txBody>
      </p:sp>
      <p:sp>
        <p:nvSpPr>
          <p:cNvPr id="26" name="Left Arrow 25"/>
          <p:cNvSpPr/>
          <p:nvPr/>
        </p:nvSpPr>
        <p:spPr>
          <a:xfrm>
            <a:off x="3931920" y="1979676"/>
            <a:ext cx="914400" cy="201168"/>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029200" y="2743200"/>
            <a:ext cx="1828800" cy="457200"/>
          </a:xfrm>
          <a:prstGeom prst="roundRect">
            <a:avLst/>
          </a:prstGeom>
          <a:solidFill>
            <a:srgbClr val="EEF1F5"/>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a:solidFill>
                  <a:srgbClr val="14233C"/>
                </a:solidFill>
              </a:defRPr>
            </a:pPr>
            <a:r>
              <a:t>warehouse</a:t>
            </a:r>
          </a:p>
        </p:txBody>
      </p:sp>
      <p:sp>
        <p:nvSpPr>
          <p:cNvPr id="28" name="Rounded Rectangle 27"/>
          <p:cNvSpPr/>
          <p:nvPr/>
        </p:nvSpPr>
        <p:spPr>
          <a:xfrm>
            <a:off x="1463040" y="2743200"/>
            <a:ext cx="2194560" cy="457200"/>
          </a:xfrm>
          <a:prstGeom prst="roundRect">
            <a:avLst/>
          </a:prstGeom>
          <a:solidFill>
            <a:srgbClr val="EEF1F5"/>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100" b="1">
                <a:solidFill>
                  <a:srgbClr val="14233C"/>
                </a:solidFill>
              </a:defRPr>
            </a:pPr>
            <a:r>
              <a:t>מחסן</a:t>
            </a:r>
          </a:p>
        </p:txBody>
      </p:sp>
      <p:sp>
        <p:nvSpPr>
          <p:cNvPr id="29" name="Left Arrow 28"/>
          <p:cNvSpPr/>
          <p:nvPr/>
        </p:nvSpPr>
        <p:spPr>
          <a:xfrm>
            <a:off x="3931920" y="2871216"/>
            <a:ext cx="914400" cy="201168"/>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029200" y="3291840"/>
            <a:ext cx="1828800" cy="457200"/>
          </a:xfrm>
          <a:prstGeom prst="roundRect">
            <a:avLst/>
          </a:prstGeom>
          <a:solidFill>
            <a:srgbClr val="EEF1F5"/>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a:solidFill>
                  <a:srgbClr val="14233C"/>
                </a:solidFill>
              </a:defRPr>
            </a:pPr>
            <a:r>
              <a:t>analytics</a:t>
            </a:r>
          </a:p>
        </p:txBody>
      </p:sp>
      <p:sp>
        <p:nvSpPr>
          <p:cNvPr id="31" name="Rounded Rectangle 30"/>
          <p:cNvSpPr/>
          <p:nvPr/>
        </p:nvSpPr>
        <p:spPr>
          <a:xfrm>
            <a:off x="1463040" y="3291840"/>
            <a:ext cx="2194560" cy="457200"/>
          </a:xfrm>
          <a:prstGeom prst="roundRect">
            <a:avLst/>
          </a:prstGeom>
          <a:solidFill>
            <a:srgbClr val="EEF1F5"/>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100" b="1">
                <a:solidFill>
                  <a:srgbClr val="14233C"/>
                </a:solidFill>
              </a:defRPr>
            </a:pPr>
            <a:r>
              <a:t>אנליטיקה</a:t>
            </a:r>
          </a:p>
        </p:txBody>
      </p:sp>
      <p:sp>
        <p:nvSpPr>
          <p:cNvPr id="32" name="Left Arrow 31"/>
          <p:cNvSpPr/>
          <p:nvPr/>
        </p:nvSpPr>
        <p:spPr>
          <a:xfrm>
            <a:off x="3931920" y="3419856"/>
            <a:ext cx="914400" cy="201168"/>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5029200" y="3840480"/>
            <a:ext cx="1828800" cy="457200"/>
          </a:xfrm>
          <a:prstGeom prst="roundRect">
            <a:avLst/>
          </a:prstGeom>
          <a:solidFill>
            <a:srgbClr val="EEF1F5"/>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a:solidFill>
                  <a:srgbClr val="14233C"/>
                </a:solidFill>
              </a:defRPr>
            </a:pPr>
            <a:r>
              <a:t>sms</a:t>
            </a:r>
          </a:p>
        </p:txBody>
      </p:sp>
      <p:sp>
        <p:nvSpPr>
          <p:cNvPr id="34" name="Rounded Rectangle 33"/>
          <p:cNvSpPr/>
          <p:nvPr/>
        </p:nvSpPr>
        <p:spPr>
          <a:xfrm>
            <a:off x="1463040" y="3840480"/>
            <a:ext cx="2194560" cy="457200"/>
          </a:xfrm>
          <a:prstGeom prst="roundRect">
            <a:avLst/>
          </a:prstGeom>
          <a:solidFill>
            <a:srgbClr val="EEF1F5"/>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100" b="1">
                <a:solidFill>
                  <a:srgbClr val="14233C"/>
                </a:solidFill>
              </a:defRPr>
            </a:pPr>
            <a:r>
              <a:t>SMS ללקוח</a:t>
            </a:r>
          </a:p>
        </p:txBody>
      </p:sp>
      <p:sp>
        <p:nvSpPr>
          <p:cNvPr id="35" name="Left Arrow 34"/>
          <p:cNvSpPr/>
          <p:nvPr/>
        </p:nvSpPr>
        <p:spPr>
          <a:xfrm>
            <a:off x="3931920" y="3968496"/>
            <a:ext cx="914400" cy="201168"/>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029200" y="4617720"/>
            <a:ext cx="1828800" cy="6858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BCC0C6"/>
                </a:solidFill>
              </a:defRPr>
            </a:pPr>
            <a:r>
              <a:t>south-queue</a:t>
            </a:r>
          </a:p>
        </p:txBody>
      </p:sp>
      <p:sp>
        <p:nvSpPr>
          <p:cNvPr id="37" name="Rounded Rectangle 36"/>
          <p:cNvSpPr/>
          <p:nvPr/>
        </p:nvSpPr>
        <p:spPr>
          <a:xfrm>
            <a:off x="1463040" y="4617720"/>
            <a:ext cx="2194560" cy="6858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300" b="1">
                <a:solidFill>
                  <a:srgbClr val="BCC0C6"/>
                </a:solidFill>
              </a:defRPr>
            </a:pPr>
            <a:r>
              <a:t>מחסן באר שבע</a:t>
            </a:r>
          </a:p>
          <a:p>
            <a:pPr algn="ctr" rtl="1">
              <a:defRPr sz="1100">
                <a:solidFill>
                  <a:srgbClr val="BCC0C6"/>
                </a:solidFill>
              </a:defRPr>
            </a:pPr>
            <a:r>
              <a:t>רק הזמנות הדרום</a:t>
            </a:r>
          </a:p>
        </p:txBody>
      </p:sp>
      <p:sp>
        <p:nvSpPr>
          <p:cNvPr id="38" name="Left Arrow 37"/>
          <p:cNvSpPr/>
          <p:nvPr/>
        </p:nvSpPr>
        <p:spPr>
          <a:xfrm>
            <a:off x="3931920" y="4860036"/>
            <a:ext cx="914400" cy="201168"/>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5815584"/>
            <a:ext cx="10911535" cy="914400"/>
          </a:xfrm>
          <a:prstGeom prst="rect">
            <a:avLst/>
          </a:prstGeom>
          <a:noFill/>
        </p:spPr>
        <p:txBody>
          <a:bodyPr wrap="square">
            <a:spAutoFit/>
          </a:bodyPr>
          <a:lstStyle/>
          <a:p>
            <a:pPr algn="r" rtl="1">
              <a:defRPr sz="1100" i="1" b="0">
                <a:solidFill>
                  <a:srgbClr val="007AFF"/>
                </a:solidFill>
              </a:defRPr>
            </a:pPr>
            <a:r>
              <a:t>Exchange – שולחן המיון בתוך הברוקר: היצרן שולח אליו ולא לתור, והוא מחליט מי מקבל עותק.   |   Queue – התור שבו ההודעה ממתינה עד שהצרכן פנוי.</a:t>
            </a:r>
          </a:p>
          <a:p>
            <a:pPr algn="r" rtl="1">
              <a:defRPr sz="1100" i="1" b="0">
                <a:solidFill>
                  <a:srgbClr val="007AFF"/>
                </a:solidFill>
              </a:defRPr>
            </a:pPr>
            <a:r>
              <a:t>Binding – החוק שמחבר Exchange לתור, והמחרוזת שעל החץ היא הקריטריון שלו. לדוגמה: 'כל הודעה שמפתחה orders.charge ← עותק ל-charge-queue'. את החוק רושם השירות שקורא מהתור – המחסן מצהיר על warehouse ורושם את החוק שלו – ולא השולח. לכן מנוי חדש אינו נוגע בקוד של היצרן.</a:t>
            </a:r>
          </a:p>
          <a:p>
            <a:pPr algn="r" rtl="1">
              <a:defRPr sz="1100" i="1" b="0">
                <a:solidFill>
                  <a:srgbClr val="007AFF"/>
                </a:solidFill>
              </a:defRPr>
            </a:pPr>
            <a:r>
              <a:t>Consumer – מי שמעבד בפועל, ורץ מחוץ לברוקר. היצרן לא מכיר אף אחד מהם, וזו כל הנקודה.</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none">
            <a:spAutoFit/>
          </a:bodyPr>
          <a:lstStyle/>
          <a:p>
            <a:pPr algn="r" rtl="1">
              <a:defRPr sz="2800" b="1">
                <a:solidFill>
                  <a:srgbClr val="14233C"/>
                </a:solidFill>
              </a:defRPr>
            </a:pPr>
            <a:r>
              <a:t>הזרימה, שלב 3: תבנית ← Topic</a:t>
            </a:r>
          </a:p>
        </p:txBody>
      </p:sp>
      <p:sp>
        <p:nvSpPr>
          <p:cNvPr id="3" name="Rounded Rectangle 2"/>
          <p:cNvSpPr/>
          <p:nvPr/>
        </p:nvSpPr>
        <p:spPr>
          <a:xfrm>
            <a:off x="4846320" y="1600200"/>
            <a:ext cx="4937760" cy="4160520"/>
          </a:xfrm>
          <a:prstGeom prst="roundRect">
            <a:avLst/>
          </a:prstGeom>
          <a:noFill/>
          <a:ln w="15875">
            <a:solidFill>
              <a:srgbClr val="007AFF"/>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46320" y="5422392"/>
            <a:ext cx="4937760" cy="274320"/>
          </a:xfrm>
          <a:prstGeom prst="rect">
            <a:avLst/>
          </a:prstGeom>
          <a:noFill/>
        </p:spPr>
        <p:txBody>
          <a:bodyPr wrap="none">
            <a:spAutoFit/>
          </a:bodyPr>
          <a:lstStyle/>
          <a:p>
            <a:pPr algn="ctr" rtl="1">
              <a:defRPr sz="1100" b="1">
                <a:solidFill>
                  <a:srgbClr val="007AFF"/>
                </a:solidFill>
              </a:defRPr>
            </a:pPr>
            <a:r>
              <a:t>Message Broker – שרת אחד שמכיל את שניהם</a:t>
            </a:r>
          </a:p>
        </p:txBody>
      </p:sp>
      <p:sp>
        <p:nvSpPr>
          <p:cNvPr id="5" name="TextBox 4"/>
          <p:cNvSpPr txBox="1"/>
          <p:nvPr/>
        </p:nvSpPr>
        <p:spPr>
          <a:xfrm>
            <a:off x="10424160" y="1207008"/>
            <a:ext cx="1554480" cy="274320"/>
          </a:xfrm>
          <a:prstGeom prst="rect">
            <a:avLst/>
          </a:prstGeom>
          <a:noFill/>
        </p:spPr>
        <p:txBody>
          <a:bodyPr wrap="none">
            <a:spAutoFit/>
          </a:bodyPr>
          <a:lstStyle/>
          <a:p>
            <a:pPr algn="ctr">
              <a:defRPr sz="1200" b="1">
                <a:solidFill>
                  <a:srgbClr val="007AFF"/>
                </a:solidFill>
              </a:defRPr>
            </a:pPr>
            <a:r>
              <a:t>Producer</a:t>
            </a:r>
          </a:p>
        </p:txBody>
      </p:sp>
      <p:sp>
        <p:nvSpPr>
          <p:cNvPr id="6" name="TextBox 5"/>
          <p:cNvSpPr txBox="1"/>
          <p:nvPr/>
        </p:nvSpPr>
        <p:spPr>
          <a:xfrm>
            <a:off x="7772400" y="1207008"/>
            <a:ext cx="1828800" cy="274320"/>
          </a:xfrm>
          <a:prstGeom prst="rect">
            <a:avLst/>
          </a:prstGeom>
          <a:noFill/>
        </p:spPr>
        <p:txBody>
          <a:bodyPr wrap="none">
            <a:spAutoFit/>
          </a:bodyPr>
          <a:lstStyle/>
          <a:p>
            <a:pPr algn="ctr">
              <a:defRPr sz="1200" b="1">
                <a:solidFill>
                  <a:srgbClr val="007AFF"/>
                </a:solidFill>
              </a:defRPr>
            </a:pPr>
            <a:r>
              <a:t>Exchange</a:t>
            </a:r>
          </a:p>
        </p:txBody>
      </p:sp>
      <p:sp>
        <p:nvSpPr>
          <p:cNvPr id="7" name="TextBox 6"/>
          <p:cNvSpPr txBox="1"/>
          <p:nvPr/>
        </p:nvSpPr>
        <p:spPr>
          <a:xfrm>
            <a:off x="5029200" y="1207008"/>
            <a:ext cx="1828800" cy="274320"/>
          </a:xfrm>
          <a:prstGeom prst="rect">
            <a:avLst/>
          </a:prstGeom>
          <a:noFill/>
        </p:spPr>
        <p:txBody>
          <a:bodyPr wrap="none">
            <a:spAutoFit/>
          </a:bodyPr>
          <a:lstStyle/>
          <a:p>
            <a:pPr algn="ctr">
              <a:defRPr sz="1200" b="1">
                <a:solidFill>
                  <a:srgbClr val="007AFF"/>
                </a:solidFill>
              </a:defRPr>
            </a:pPr>
            <a:r>
              <a:t>Queue</a:t>
            </a:r>
          </a:p>
        </p:txBody>
      </p:sp>
      <p:sp>
        <p:nvSpPr>
          <p:cNvPr id="8" name="TextBox 7"/>
          <p:cNvSpPr txBox="1"/>
          <p:nvPr/>
        </p:nvSpPr>
        <p:spPr>
          <a:xfrm>
            <a:off x="1463040" y="1207008"/>
            <a:ext cx="2194560" cy="274320"/>
          </a:xfrm>
          <a:prstGeom prst="rect">
            <a:avLst/>
          </a:prstGeom>
          <a:noFill/>
        </p:spPr>
        <p:txBody>
          <a:bodyPr wrap="none">
            <a:spAutoFit/>
          </a:bodyPr>
          <a:lstStyle/>
          <a:p>
            <a:pPr algn="ctr">
              <a:defRPr sz="1200" b="1">
                <a:solidFill>
                  <a:srgbClr val="007AFF"/>
                </a:solidFill>
              </a:defRPr>
            </a:pPr>
            <a:r>
              <a:t>Consumer</a:t>
            </a:r>
          </a:p>
        </p:txBody>
      </p:sp>
      <p:sp>
        <p:nvSpPr>
          <p:cNvPr id="9" name="Rounded Rectangle 8"/>
          <p:cNvSpPr/>
          <p:nvPr/>
        </p:nvSpPr>
        <p:spPr>
          <a:xfrm>
            <a:off x="10424160" y="3063240"/>
            <a:ext cx="1554480" cy="914400"/>
          </a:xfrm>
          <a:prstGeom prst="roundRect">
            <a:avLst/>
          </a:prstGeom>
          <a:solidFill>
            <a:srgbClr val="007AFF"/>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200" b="1">
                <a:solidFill>
                  <a:srgbClr val="FFFFFF"/>
                </a:solidFill>
              </a:defRPr>
            </a:pPr>
            <a:r>
              <a:t>שירות ההזמנות</a:t>
            </a:r>
          </a:p>
          <a:p>
            <a:pPr algn="ctr" rtl="1">
              <a:defRPr sz="1000">
                <a:solidFill>
                  <a:srgbClr val="FFFFFF"/>
                </a:solidFill>
              </a:defRPr>
            </a:pPr>
            <a:r>
              <a:t>מפרסם OrderPlaced</a:t>
            </a:r>
          </a:p>
        </p:txBody>
      </p:sp>
      <p:sp>
        <p:nvSpPr>
          <p:cNvPr id="10" name="Rectangle 9"/>
          <p:cNvSpPr/>
          <p:nvPr/>
        </p:nvSpPr>
        <p:spPr>
          <a:xfrm>
            <a:off x="10012680" y="2080260"/>
            <a:ext cx="45720" cy="2880360"/>
          </a:xfrm>
          <a:prstGeom prst="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012680" y="3493008"/>
            <a:ext cx="411480" cy="54864"/>
          </a:xfrm>
          <a:prstGeom prst="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eft Arrow 11"/>
          <p:cNvSpPr/>
          <p:nvPr/>
        </p:nvSpPr>
        <p:spPr>
          <a:xfrm>
            <a:off x="9601200" y="1952243"/>
            <a:ext cx="411480" cy="256032"/>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eft Arrow 12"/>
          <p:cNvSpPr/>
          <p:nvPr/>
        </p:nvSpPr>
        <p:spPr>
          <a:xfrm>
            <a:off x="6949440" y="1952243"/>
            <a:ext cx="822960" cy="256032"/>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ft Arrow 13"/>
          <p:cNvSpPr/>
          <p:nvPr/>
        </p:nvSpPr>
        <p:spPr>
          <a:xfrm>
            <a:off x="9601200" y="3392424"/>
            <a:ext cx="411480" cy="256032"/>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Left Arrow 14"/>
          <p:cNvSpPr/>
          <p:nvPr/>
        </p:nvSpPr>
        <p:spPr>
          <a:xfrm>
            <a:off x="6949440" y="3392424"/>
            <a:ext cx="822960" cy="256032"/>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Left Arrow 15"/>
          <p:cNvSpPr/>
          <p:nvPr/>
        </p:nvSpPr>
        <p:spPr>
          <a:xfrm>
            <a:off x="9601200" y="4832604"/>
            <a:ext cx="411480" cy="256032"/>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ft Arrow 16"/>
          <p:cNvSpPr/>
          <p:nvPr/>
        </p:nvSpPr>
        <p:spPr>
          <a:xfrm>
            <a:off x="6949440" y="4832604"/>
            <a:ext cx="822960" cy="256032"/>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772400" y="1737360"/>
            <a:ext cx="1828800" cy="6858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BCC0C6"/>
                </a:solidFill>
              </a:defRPr>
            </a:pPr>
            <a:r>
              <a:t>Direct</a:t>
            </a:r>
          </a:p>
        </p:txBody>
      </p:sp>
      <p:sp>
        <p:nvSpPr>
          <p:cNvPr id="19" name="Rounded Rectangle 18"/>
          <p:cNvSpPr/>
          <p:nvPr/>
        </p:nvSpPr>
        <p:spPr>
          <a:xfrm>
            <a:off x="7772400" y="3177540"/>
            <a:ext cx="1828800" cy="6858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BCC0C6"/>
                </a:solidFill>
              </a:defRPr>
            </a:pPr>
            <a:r>
              <a:t>Fanout</a:t>
            </a:r>
          </a:p>
        </p:txBody>
      </p:sp>
      <p:sp>
        <p:nvSpPr>
          <p:cNvPr id="20" name="Rounded Rectangle 19"/>
          <p:cNvSpPr/>
          <p:nvPr/>
        </p:nvSpPr>
        <p:spPr>
          <a:xfrm>
            <a:off x="7772400" y="4617720"/>
            <a:ext cx="1828800" cy="685800"/>
          </a:xfrm>
          <a:prstGeom prst="roundRect">
            <a:avLst/>
          </a:prstGeom>
          <a:solidFill>
            <a:srgbClr val="14233C"/>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FFFFFF"/>
                </a:solidFill>
              </a:defRPr>
            </a:pPr>
            <a:r>
              <a:t>Topic</a:t>
            </a:r>
          </a:p>
        </p:txBody>
      </p:sp>
      <p:sp>
        <p:nvSpPr>
          <p:cNvPr id="21" name="TextBox 20"/>
          <p:cNvSpPr txBox="1"/>
          <p:nvPr/>
        </p:nvSpPr>
        <p:spPr>
          <a:xfrm>
            <a:off x="6876288" y="1604772"/>
            <a:ext cx="877824" cy="256032"/>
          </a:xfrm>
          <a:prstGeom prst="rect">
            <a:avLst/>
          </a:prstGeom>
          <a:noFill/>
        </p:spPr>
        <p:txBody>
          <a:bodyPr wrap="none">
            <a:spAutoFit/>
          </a:bodyPr>
          <a:lstStyle/>
          <a:p>
            <a:pPr algn="ctr">
              <a:defRPr sz="900">
                <a:solidFill>
                  <a:srgbClr val="BCC0C6"/>
                </a:solidFill>
              </a:defRPr>
            </a:pPr>
            <a:r>
              <a:t>orders.charge</a:t>
            </a:r>
          </a:p>
        </p:txBody>
      </p:sp>
      <p:sp>
        <p:nvSpPr>
          <p:cNvPr id="22" name="TextBox 21"/>
          <p:cNvSpPr txBox="1"/>
          <p:nvPr/>
        </p:nvSpPr>
        <p:spPr>
          <a:xfrm>
            <a:off x="6876288" y="3044952"/>
            <a:ext cx="877824" cy="256032"/>
          </a:xfrm>
          <a:prstGeom prst="rect">
            <a:avLst/>
          </a:prstGeom>
          <a:noFill/>
        </p:spPr>
        <p:txBody>
          <a:bodyPr wrap="none">
            <a:spAutoFit/>
          </a:bodyPr>
          <a:lstStyle/>
          <a:p>
            <a:pPr algn="ctr" rtl="1">
              <a:defRPr sz="900">
                <a:solidFill>
                  <a:srgbClr val="BCC0C6"/>
                </a:solidFill>
              </a:defRPr>
            </a:pPr>
            <a:r>
              <a:t>ללא מפתח</a:t>
            </a:r>
          </a:p>
        </p:txBody>
      </p:sp>
      <p:sp>
        <p:nvSpPr>
          <p:cNvPr id="23" name="TextBox 22"/>
          <p:cNvSpPr txBox="1"/>
          <p:nvPr/>
        </p:nvSpPr>
        <p:spPr>
          <a:xfrm>
            <a:off x="6876288" y="4485131"/>
            <a:ext cx="877824" cy="256032"/>
          </a:xfrm>
          <a:prstGeom prst="rect">
            <a:avLst/>
          </a:prstGeom>
          <a:noFill/>
        </p:spPr>
        <p:txBody>
          <a:bodyPr wrap="none">
            <a:spAutoFit/>
          </a:bodyPr>
          <a:lstStyle/>
          <a:p>
            <a:pPr algn="ctr">
              <a:defRPr sz="900">
                <a:solidFill>
                  <a:srgbClr val="282828"/>
                </a:solidFill>
              </a:defRPr>
            </a:pPr>
            <a:r>
              <a:t>order.il.south.#</a:t>
            </a:r>
          </a:p>
        </p:txBody>
      </p:sp>
      <p:sp>
        <p:nvSpPr>
          <p:cNvPr id="24" name="Rounded Rectangle 23"/>
          <p:cNvSpPr/>
          <p:nvPr/>
        </p:nvSpPr>
        <p:spPr>
          <a:xfrm>
            <a:off x="5029200" y="1737360"/>
            <a:ext cx="1828800" cy="6858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BCC0C6"/>
                </a:solidFill>
              </a:defRPr>
            </a:pPr>
            <a:r>
              <a:t>charge-queue</a:t>
            </a:r>
          </a:p>
        </p:txBody>
      </p:sp>
      <p:sp>
        <p:nvSpPr>
          <p:cNvPr id="25" name="Rounded Rectangle 24"/>
          <p:cNvSpPr/>
          <p:nvPr/>
        </p:nvSpPr>
        <p:spPr>
          <a:xfrm>
            <a:off x="1463040" y="1737360"/>
            <a:ext cx="2194560" cy="6858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300" b="1">
                <a:solidFill>
                  <a:srgbClr val="BCC0C6"/>
                </a:solidFill>
              </a:defRPr>
            </a:pPr>
            <a:r>
              <a:t>עשרה Workers</a:t>
            </a:r>
          </a:p>
          <a:p>
            <a:pPr algn="ctr" rtl="1">
              <a:defRPr sz="1100">
                <a:solidFill>
                  <a:srgbClr val="BCC0C6"/>
                </a:solidFill>
              </a:defRPr>
            </a:pPr>
            <a:r>
              <a:t>חיוב הכרטיס</a:t>
            </a:r>
          </a:p>
        </p:txBody>
      </p:sp>
      <p:sp>
        <p:nvSpPr>
          <p:cNvPr id="26" name="Left Arrow 25"/>
          <p:cNvSpPr/>
          <p:nvPr/>
        </p:nvSpPr>
        <p:spPr>
          <a:xfrm>
            <a:off x="3931920" y="1979676"/>
            <a:ext cx="914400" cy="201168"/>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029200" y="2743200"/>
            <a:ext cx="1828800" cy="4572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a:solidFill>
                  <a:srgbClr val="BCC0C6"/>
                </a:solidFill>
              </a:defRPr>
            </a:pPr>
            <a:r>
              <a:t>warehouse</a:t>
            </a:r>
          </a:p>
        </p:txBody>
      </p:sp>
      <p:sp>
        <p:nvSpPr>
          <p:cNvPr id="28" name="Rounded Rectangle 27"/>
          <p:cNvSpPr/>
          <p:nvPr/>
        </p:nvSpPr>
        <p:spPr>
          <a:xfrm>
            <a:off x="1463040" y="2743200"/>
            <a:ext cx="2194560" cy="4572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100" b="1">
                <a:solidFill>
                  <a:srgbClr val="BCC0C6"/>
                </a:solidFill>
              </a:defRPr>
            </a:pPr>
            <a:r>
              <a:t>מחסן</a:t>
            </a:r>
          </a:p>
        </p:txBody>
      </p:sp>
      <p:sp>
        <p:nvSpPr>
          <p:cNvPr id="29" name="Left Arrow 28"/>
          <p:cNvSpPr/>
          <p:nvPr/>
        </p:nvSpPr>
        <p:spPr>
          <a:xfrm>
            <a:off x="3931920" y="2871216"/>
            <a:ext cx="914400" cy="201168"/>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029200" y="3291840"/>
            <a:ext cx="1828800" cy="4572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a:solidFill>
                  <a:srgbClr val="BCC0C6"/>
                </a:solidFill>
              </a:defRPr>
            </a:pPr>
            <a:r>
              <a:t>analytics</a:t>
            </a:r>
          </a:p>
        </p:txBody>
      </p:sp>
      <p:sp>
        <p:nvSpPr>
          <p:cNvPr id="31" name="Rounded Rectangle 30"/>
          <p:cNvSpPr/>
          <p:nvPr/>
        </p:nvSpPr>
        <p:spPr>
          <a:xfrm>
            <a:off x="1463040" y="3291840"/>
            <a:ext cx="2194560" cy="4572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100" b="1">
                <a:solidFill>
                  <a:srgbClr val="BCC0C6"/>
                </a:solidFill>
              </a:defRPr>
            </a:pPr>
            <a:r>
              <a:t>אנליטיקה</a:t>
            </a:r>
          </a:p>
        </p:txBody>
      </p:sp>
      <p:sp>
        <p:nvSpPr>
          <p:cNvPr id="32" name="Left Arrow 31"/>
          <p:cNvSpPr/>
          <p:nvPr/>
        </p:nvSpPr>
        <p:spPr>
          <a:xfrm>
            <a:off x="3931920" y="3419856"/>
            <a:ext cx="914400" cy="201168"/>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5029200" y="3840480"/>
            <a:ext cx="1828800" cy="4572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a:solidFill>
                  <a:srgbClr val="BCC0C6"/>
                </a:solidFill>
              </a:defRPr>
            </a:pPr>
            <a:r>
              <a:t>sms</a:t>
            </a:r>
          </a:p>
        </p:txBody>
      </p:sp>
      <p:sp>
        <p:nvSpPr>
          <p:cNvPr id="34" name="Rounded Rectangle 33"/>
          <p:cNvSpPr/>
          <p:nvPr/>
        </p:nvSpPr>
        <p:spPr>
          <a:xfrm>
            <a:off x="1463040" y="3840480"/>
            <a:ext cx="2194560" cy="4572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100" b="1">
                <a:solidFill>
                  <a:srgbClr val="BCC0C6"/>
                </a:solidFill>
              </a:defRPr>
            </a:pPr>
            <a:r>
              <a:t>SMS ללקוח</a:t>
            </a:r>
          </a:p>
        </p:txBody>
      </p:sp>
      <p:sp>
        <p:nvSpPr>
          <p:cNvPr id="35" name="Left Arrow 34"/>
          <p:cNvSpPr/>
          <p:nvPr/>
        </p:nvSpPr>
        <p:spPr>
          <a:xfrm>
            <a:off x="3931920" y="3968496"/>
            <a:ext cx="914400" cy="201168"/>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029200" y="4617720"/>
            <a:ext cx="1828800" cy="685800"/>
          </a:xfrm>
          <a:prstGeom prst="roundRect">
            <a:avLst/>
          </a:prstGeom>
          <a:solidFill>
            <a:srgbClr val="EEF1F5"/>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14233C"/>
                </a:solidFill>
              </a:defRPr>
            </a:pPr>
            <a:r>
              <a:t>south-queue</a:t>
            </a:r>
          </a:p>
        </p:txBody>
      </p:sp>
      <p:sp>
        <p:nvSpPr>
          <p:cNvPr id="37" name="Rounded Rectangle 36"/>
          <p:cNvSpPr/>
          <p:nvPr/>
        </p:nvSpPr>
        <p:spPr>
          <a:xfrm>
            <a:off x="1463040" y="4617720"/>
            <a:ext cx="2194560" cy="685800"/>
          </a:xfrm>
          <a:prstGeom prst="roundRect">
            <a:avLst/>
          </a:prstGeom>
          <a:solidFill>
            <a:srgbClr val="EEF1F5"/>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300" b="1">
                <a:solidFill>
                  <a:srgbClr val="14233C"/>
                </a:solidFill>
              </a:defRPr>
            </a:pPr>
            <a:r>
              <a:t>מחסן באר שבע</a:t>
            </a:r>
          </a:p>
          <a:p>
            <a:pPr algn="ctr" rtl="1">
              <a:defRPr sz="1100">
                <a:solidFill>
                  <a:srgbClr val="14233C"/>
                </a:solidFill>
              </a:defRPr>
            </a:pPr>
            <a:r>
              <a:t>רק הזמנות הדרום</a:t>
            </a:r>
          </a:p>
        </p:txBody>
      </p:sp>
      <p:sp>
        <p:nvSpPr>
          <p:cNvPr id="38" name="Left Arrow 37"/>
          <p:cNvSpPr/>
          <p:nvPr/>
        </p:nvSpPr>
        <p:spPr>
          <a:xfrm>
            <a:off x="3931920" y="4860036"/>
            <a:ext cx="914400" cy="201168"/>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5815584"/>
            <a:ext cx="10911535" cy="914400"/>
          </a:xfrm>
          <a:prstGeom prst="rect">
            <a:avLst/>
          </a:prstGeom>
          <a:noFill/>
        </p:spPr>
        <p:txBody>
          <a:bodyPr wrap="square">
            <a:spAutoFit/>
          </a:bodyPr>
          <a:lstStyle/>
          <a:p>
            <a:pPr algn="r" rtl="1">
              <a:defRPr sz="1100" i="1" b="0">
                <a:solidFill>
                  <a:srgbClr val="007AFF"/>
                </a:solidFill>
              </a:defRPr>
            </a:pPr>
            <a:r>
              <a:t>Exchange – שולחן המיון בתוך הברוקר: היצרן שולח אליו ולא לתור, והוא מחליט מי מקבל עותק.   |   Queue – התור שבו ההודעה ממתינה עד שהצרכן פנוי.</a:t>
            </a:r>
          </a:p>
          <a:p>
            <a:pPr algn="r" rtl="1">
              <a:defRPr sz="1100" i="1" b="0">
                <a:solidFill>
                  <a:srgbClr val="007AFF"/>
                </a:solidFill>
              </a:defRPr>
            </a:pPr>
            <a:r>
              <a:t>Binding – החוק שמחבר Exchange לתור, והמחרוזת שעל החץ היא הקריטריון שלו. לדוגמה: 'כל הודעה שמפתחה orders.charge ← עותק ל-charge-queue'. את החוק רושם השירות שקורא מהתור – המחסן מצהיר על warehouse ורושם את החוק שלו – ולא השולח. לכן מנוי חדש אינו נוגע בקוד של היצרן.</a:t>
            </a:r>
          </a:p>
          <a:p>
            <a:pPr algn="r" rtl="1">
              <a:defRPr sz="1100" i="1" b="0">
                <a:solidFill>
                  <a:srgbClr val="007AFF"/>
                </a:solidFill>
              </a:defRPr>
            </a:pPr>
            <a:r>
              <a:t>Consumer – מי שמעבד בפועל, ורץ מחוץ לברוקר. היצרן לא מכיר אף אחד מהם, וזו כל הנקודה.</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none">
            <a:spAutoFit/>
          </a:bodyPr>
          <a:lstStyle/>
          <a:p>
            <a:pPr algn="r" rtl="1">
              <a:defRPr sz="2800" b="1">
                <a:solidFill>
                  <a:srgbClr val="14233C"/>
                </a:solidFill>
              </a:defRPr>
            </a:pPr>
            <a:r>
              <a:t>הזרימה המלאה: ההזמנה של 14:03, מהיצרן ועד הצרכן</a:t>
            </a:r>
          </a:p>
        </p:txBody>
      </p:sp>
      <p:sp>
        <p:nvSpPr>
          <p:cNvPr id="3" name="Rounded Rectangle 2"/>
          <p:cNvSpPr/>
          <p:nvPr/>
        </p:nvSpPr>
        <p:spPr>
          <a:xfrm>
            <a:off x="4846320" y="1600200"/>
            <a:ext cx="4937760" cy="4160520"/>
          </a:xfrm>
          <a:prstGeom prst="roundRect">
            <a:avLst/>
          </a:prstGeom>
          <a:noFill/>
          <a:ln w="15875">
            <a:solidFill>
              <a:srgbClr val="007AFF"/>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46320" y="5422392"/>
            <a:ext cx="4937760" cy="274320"/>
          </a:xfrm>
          <a:prstGeom prst="rect">
            <a:avLst/>
          </a:prstGeom>
          <a:noFill/>
        </p:spPr>
        <p:txBody>
          <a:bodyPr wrap="none">
            <a:spAutoFit/>
          </a:bodyPr>
          <a:lstStyle/>
          <a:p>
            <a:pPr algn="ctr" rtl="1">
              <a:defRPr sz="1100" b="1">
                <a:solidFill>
                  <a:srgbClr val="007AFF"/>
                </a:solidFill>
              </a:defRPr>
            </a:pPr>
            <a:r>
              <a:t>Message Broker – שרת אחד שמכיל את שניהם</a:t>
            </a:r>
          </a:p>
        </p:txBody>
      </p:sp>
      <p:sp>
        <p:nvSpPr>
          <p:cNvPr id="5" name="TextBox 4"/>
          <p:cNvSpPr txBox="1"/>
          <p:nvPr/>
        </p:nvSpPr>
        <p:spPr>
          <a:xfrm>
            <a:off x="10424160" y="1207008"/>
            <a:ext cx="1554480" cy="274320"/>
          </a:xfrm>
          <a:prstGeom prst="rect">
            <a:avLst/>
          </a:prstGeom>
          <a:noFill/>
        </p:spPr>
        <p:txBody>
          <a:bodyPr wrap="none">
            <a:spAutoFit/>
          </a:bodyPr>
          <a:lstStyle/>
          <a:p>
            <a:pPr algn="ctr">
              <a:defRPr sz="1200" b="1">
                <a:solidFill>
                  <a:srgbClr val="007AFF"/>
                </a:solidFill>
              </a:defRPr>
            </a:pPr>
            <a:r>
              <a:t>Producer</a:t>
            </a:r>
          </a:p>
        </p:txBody>
      </p:sp>
      <p:sp>
        <p:nvSpPr>
          <p:cNvPr id="6" name="TextBox 5"/>
          <p:cNvSpPr txBox="1"/>
          <p:nvPr/>
        </p:nvSpPr>
        <p:spPr>
          <a:xfrm>
            <a:off x="7772400" y="1207008"/>
            <a:ext cx="1828800" cy="274320"/>
          </a:xfrm>
          <a:prstGeom prst="rect">
            <a:avLst/>
          </a:prstGeom>
          <a:noFill/>
        </p:spPr>
        <p:txBody>
          <a:bodyPr wrap="none">
            <a:spAutoFit/>
          </a:bodyPr>
          <a:lstStyle/>
          <a:p>
            <a:pPr algn="ctr">
              <a:defRPr sz="1200" b="1">
                <a:solidFill>
                  <a:srgbClr val="007AFF"/>
                </a:solidFill>
              </a:defRPr>
            </a:pPr>
            <a:r>
              <a:t>Exchange</a:t>
            </a:r>
          </a:p>
        </p:txBody>
      </p:sp>
      <p:sp>
        <p:nvSpPr>
          <p:cNvPr id="7" name="TextBox 6"/>
          <p:cNvSpPr txBox="1"/>
          <p:nvPr/>
        </p:nvSpPr>
        <p:spPr>
          <a:xfrm>
            <a:off x="5029200" y="1207008"/>
            <a:ext cx="1828800" cy="274320"/>
          </a:xfrm>
          <a:prstGeom prst="rect">
            <a:avLst/>
          </a:prstGeom>
          <a:noFill/>
        </p:spPr>
        <p:txBody>
          <a:bodyPr wrap="none">
            <a:spAutoFit/>
          </a:bodyPr>
          <a:lstStyle/>
          <a:p>
            <a:pPr algn="ctr">
              <a:defRPr sz="1200" b="1">
                <a:solidFill>
                  <a:srgbClr val="007AFF"/>
                </a:solidFill>
              </a:defRPr>
            </a:pPr>
            <a:r>
              <a:t>Queue</a:t>
            </a:r>
          </a:p>
        </p:txBody>
      </p:sp>
      <p:sp>
        <p:nvSpPr>
          <p:cNvPr id="8" name="TextBox 7"/>
          <p:cNvSpPr txBox="1"/>
          <p:nvPr/>
        </p:nvSpPr>
        <p:spPr>
          <a:xfrm>
            <a:off x="1463040" y="1207008"/>
            <a:ext cx="2194560" cy="274320"/>
          </a:xfrm>
          <a:prstGeom prst="rect">
            <a:avLst/>
          </a:prstGeom>
          <a:noFill/>
        </p:spPr>
        <p:txBody>
          <a:bodyPr wrap="none">
            <a:spAutoFit/>
          </a:bodyPr>
          <a:lstStyle/>
          <a:p>
            <a:pPr algn="ctr">
              <a:defRPr sz="1200" b="1">
                <a:solidFill>
                  <a:srgbClr val="007AFF"/>
                </a:solidFill>
              </a:defRPr>
            </a:pPr>
            <a:r>
              <a:t>Consumer</a:t>
            </a:r>
          </a:p>
        </p:txBody>
      </p:sp>
      <p:sp>
        <p:nvSpPr>
          <p:cNvPr id="9" name="Rounded Rectangle 8"/>
          <p:cNvSpPr/>
          <p:nvPr/>
        </p:nvSpPr>
        <p:spPr>
          <a:xfrm>
            <a:off x="10424160" y="3063240"/>
            <a:ext cx="1554480" cy="914400"/>
          </a:xfrm>
          <a:prstGeom prst="roundRect">
            <a:avLst/>
          </a:prstGeom>
          <a:solidFill>
            <a:srgbClr val="007AFF"/>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200" b="1">
                <a:solidFill>
                  <a:srgbClr val="FFFFFF"/>
                </a:solidFill>
              </a:defRPr>
            </a:pPr>
            <a:r>
              <a:t>שירות ההזמנות</a:t>
            </a:r>
          </a:p>
          <a:p>
            <a:pPr algn="ctr" rtl="1">
              <a:defRPr sz="1000">
                <a:solidFill>
                  <a:srgbClr val="FFFFFF"/>
                </a:solidFill>
              </a:defRPr>
            </a:pPr>
            <a:r>
              <a:t>מפרסם OrderPlaced</a:t>
            </a:r>
          </a:p>
        </p:txBody>
      </p:sp>
      <p:sp>
        <p:nvSpPr>
          <p:cNvPr id="10" name="Rectangle 9"/>
          <p:cNvSpPr/>
          <p:nvPr/>
        </p:nvSpPr>
        <p:spPr>
          <a:xfrm>
            <a:off x="10012680" y="2080260"/>
            <a:ext cx="45720" cy="2880360"/>
          </a:xfrm>
          <a:prstGeom prst="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012680" y="3493008"/>
            <a:ext cx="411480" cy="54864"/>
          </a:xfrm>
          <a:prstGeom prst="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eft Arrow 11"/>
          <p:cNvSpPr/>
          <p:nvPr/>
        </p:nvSpPr>
        <p:spPr>
          <a:xfrm>
            <a:off x="9601200" y="1952243"/>
            <a:ext cx="411480" cy="256032"/>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eft Arrow 12"/>
          <p:cNvSpPr/>
          <p:nvPr/>
        </p:nvSpPr>
        <p:spPr>
          <a:xfrm>
            <a:off x="6949440" y="1952243"/>
            <a:ext cx="822960" cy="256032"/>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ft Arrow 13"/>
          <p:cNvSpPr/>
          <p:nvPr/>
        </p:nvSpPr>
        <p:spPr>
          <a:xfrm>
            <a:off x="9601200" y="3392424"/>
            <a:ext cx="411480" cy="256032"/>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Left Arrow 14"/>
          <p:cNvSpPr/>
          <p:nvPr/>
        </p:nvSpPr>
        <p:spPr>
          <a:xfrm>
            <a:off x="6949440" y="3392424"/>
            <a:ext cx="822960" cy="256032"/>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Left Arrow 15"/>
          <p:cNvSpPr/>
          <p:nvPr/>
        </p:nvSpPr>
        <p:spPr>
          <a:xfrm>
            <a:off x="9601200" y="4832604"/>
            <a:ext cx="411480" cy="256032"/>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ft Arrow 16"/>
          <p:cNvSpPr/>
          <p:nvPr/>
        </p:nvSpPr>
        <p:spPr>
          <a:xfrm>
            <a:off x="6949440" y="4832604"/>
            <a:ext cx="822960" cy="256032"/>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772400" y="1737360"/>
            <a:ext cx="1828800" cy="685800"/>
          </a:xfrm>
          <a:prstGeom prst="roundRect">
            <a:avLst/>
          </a:prstGeom>
          <a:solidFill>
            <a:srgbClr val="14233C"/>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FFFFFF"/>
                </a:solidFill>
              </a:defRPr>
            </a:pPr>
            <a:r>
              <a:t>Direct</a:t>
            </a:r>
          </a:p>
        </p:txBody>
      </p:sp>
      <p:sp>
        <p:nvSpPr>
          <p:cNvPr id="19" name="Rounded Rectangle 18"/>
          <p:cNvSpPr/>
          <p:nvPr/>
        </p:nvSpPr>
        <p:spPr>
          <a:xfrm>
            <a:off x="7772400" y="3177540"/>
            <a:ext cx="1828800" cy="685800"/>
          </a:xfrm>
          <a:prstGeom prst="roundRect">
            <a:avLst/>
          </a:prstGeom>
          <a:solidFill>
            <a:srgbClr val="14233C"/>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FFFFFF"/>
                </a:solidFill>
              </a:defRPr>
            </a:pPr>
            <a:r>
              <a:t>Fanout</a:t>
            </a:r>
          </a:p>
        </p:txBody>
      </p:sp>
      <p:sp>
        <p:nvSpPr>
          <p:cNvPr id="20" name="Rounded Rectangle 19"/>
          <p:cNvSpPr/>
          <p:nvPr/>
        </p:nvSpPr>
        <p:spPr>
          <a:xfrm>
            <a:off x="7772400" y="4617720"/>
            <a:ext cx="1828800" cy="685800"/>
          </a:xfrm>
          <a:prstGeom prst="roundRect">
            <a:avLst/>
          </a:prstGeom>
          <a:solidFill>
            <a:srgbClr val="14233C"/>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FFFFFF"/>
                </a:solidFill>
              </a:defRPr>
            </a:pPr>
            <a:r>
              <a:t>Topic</a:t>
            </a:r>
          </a:p>
        </p:txBody>
      </p:sp>
      <p:sp>
        <p:nvSpPr>
          <p:cNvPr id="21" name="TextBox 20"/>
          <p:cNvSpPr txBox="1"/>
          <p:nvPr/>
        </p:nvSpPr>
        <p:spPr>
          <a:xfrm>
            <a:off x="6876288" y="1604772"/>
            <a:ext cx="877824" cy="256032"/>
          </a:xfrm>
          <a:prstGeom prst="rect">
            <a:avLst/>
          </a:prstGeom>
          <a:noFill/>
        </p:spPr>
        <p:txBody>
          <a:bodyPr wrap="none">
            <a:spAutoFit/>
          </a:bodyPr>
          <a:lstStyle/>
          <a:p>
            <a:pPr algn="ctr">
              <a:defRPr sz="900">
                <a:solidFill>
                  <a:srgbClr val="282828"/>
                </a:solidFill>
              </a:defRPr>
            </a:pPr>
            <a:r>
              <a:t>orders.charge</a:t>
            </a:r>
          </a:p>
        </p:txBody>
      </p:sp>
      <p:sp>
        <p:nvSpPr>
          <p:cNvPr id="22" name="TextBox 21"/>
          <p:cNvSpPr txBox="1"/>
          <p:nvPr/>
        </p:nvSpPr>
        <p:spPr>
          <a:xfrm>
            <a:off x="6876288" y="3044952"/>
            <a:ext cx="877824" cy="256032"/>
          </a:xfrm>
          <a:prstGeom prst="rect">
            <a:avLst/>
          </a:prstGeom>
          <a:noFill/>
        </p:spPr>
        <p:txBody>
          <a:bodyPr wrap="none">
            <a:spAutoFit/>
          </a:bodyPr>
          <a:lstStyle/>
          <a:p>
            <a:pPr algn="ctr" rtl="1">
              <a:defRPr sz="900">
                <a:solidFill>
                  <a:srgbClr val="282828"/>
                </a:solidFill>
              </a:defRPr>
            </a:pPr>
            <a:r>
              <a:t>ללא מפתח</a:t>
            </a:r>
          </a:p>
        </p:txBody>
      </p:sp>
      <p:sp>
        <p:nvSpPr>
          <p:cNvPr id="23" name="TextBox 22"/>
          <p:cNvSpPr txBox="1"/>
          <p:nvPr/>
        </p:nvSpPr>
        <p:spPr>
          <a:xfrm>
            <a:off x="6876288" y="4485131"/>
            <a:ext cx="877824" cy="256032"/>
          </a:xfrm>
          <a:prstGeom prst="rect">
            <a:avLst/>
          </a:prstGeom>
          <a:noFill/>
        </p:spPr>
        <p:txBody>
          <a:bodyPr wrap="none">
            <a:spAutoFit/>
          </a:bodyPr>
          <a:lstStyle/>
          <a:p>
            <a:pPr algn="ctr">
              <a:defRPr sz="900">
                <a:solidFill>
                  <a:srgbClr val="282828"/>
                </a:solidFill>
              </a:defRPr>
            </a:pPr>
            <a:r>
              <a:t>order.il.south.#</a:t>
            </a:r>
          </a:p>
        </p:txBody>
      </p:sp>
      <p:sp>
        <p:nvSpPr>
          <p:cNvPr id="24" name="Rounded Rectangle 23"/>
          <p:cNvSpPr/>
          <p:nvPr/>
        </p:nvSpPr>
        <p:spPr>
          <a:xfrm>
            <a:off x="5029200" y="1737360"/>
            <a:ext cx="1828800" cy="685800"/>
          </a:xfrm>
          <a:prstGeom prst="roundRect">
            <a:avLst/>
          </a:prstGeom>
          <a:solidFill>
            <a:srgbClr val="EEF1F5"/>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14233C"/>
                </a:solidFill>
              </a:defRPr>
            </a:pPr>
            <a:r>
              <a:t>charge-queue</a:t>
            </a:r>
          </a:p>
        </p:txBody>
      </p:sp>
      <p:sp>
        <p:nvSpPr>
          <p:cNvPr id="25" name="Rounded Rectangle 24"/>
          <p:cNvSpPr/>
          <p:nvPr/>
        </p:nvSpPr>
        <p:spPr>
          <a:xfrm>
            <a:off x="1463040" y="1737360"/>
            <a:ext cx="2194560" cy="685800"/>
          </a:xfrm>
          <a:prstGeom prst="roundRect">
            <a:avLst/>
          </a:prstGeom>
          <a:solidFill>
            <a:srgbClr val="EEF1F5"/>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300" b="1">
                <a:solidFill>
                  <a:srgbClr val="14233C"/>
                </a:solidFill>
              </a:defRPr>
            </a:pPr>
            <a:r>
              <a:t>עשרה Workers</a:t>
            </a:r>
          </a:p>
          <a:p>
            <a:pPr algn="ctr" rtl="1">
              <a:defRPr sz="1100">
                <a:solidFill>
                  <a:srgbClr val="14233C"/>
                </a:solidFill>
              </a:defRPr>
            </a:pPr>
            <a:r>
              <a:t>חיוב הכרטיס</a:t>
            </a:r>
          </a:p>
        </p:txBody>
      </p:sp>
      <p:sp>
        <p:nvSpPr>
          <p:cNvPr id="26" name="Left Arrow 25"/>
          <p:cNvSpPr/>
          <p:nvPr/>
        </p:nvSpPr>
        <p:spPr>
          <a:xfrm>
            <a:off x="3931920" y="1979676"/>
            <a:ext cx="914400" cy="201168"/>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029200" y="2743200"/>
            <a:ext cx="1828800" cy="457200"/>
          </a:xfrm>
          <a:prstGeom prst="roundRect">
            <a:avLst/>
          </a:prstGeom>
          <a:solidFill>
            <a:srgbClr val="EEF1F5"/>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a:solidFill>
                  <a:srgbClr val="14233C"/>
                </a:solidFill>
              </a:defRPr>
            </a:pPr>
            <a:r>
              <a:t>warehouse</a:t>
            </a:r>
          </a:p>
        </p:txBody>
      </p:sp>
      <p:sp>
        <p:nvSpPr>
          <p:cNvPr id="28" name="Rounded Rectangle 27"/>
          <p:cNvSpPr/>
          <p:nvPr/>
        </p:nvSpPr>
        <p:spPr>
          <a:xfrm>
            <a:off x="1463040" y="2743200"/>
            <a:ext cx="2194560" cy="457200"/>
          </a:xfrm>
          <a:prstGeom prst="roundRect">
            <a:avLst/>
          </a:prstGeom>
          <a:solidFill>
            <a:srgbClr val="EEF1F5"/>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100" b="1">
                <a:solidFill>
                  <a:srgbClr val="14233C"/>
                </a:solidFill>
              </a:defRPr>
            </a:pPr>
            <a:r>
              <a:t>מחסן</a:t>
            </a:r>
          </a:p>
        </p:txBody>
      </p:sp>
      <p:sp>
        <p:nvSpPr>
          <p:cNvPr id="29" name="Left Arrow 28"/>
          <p:cNvSpPr/>
          <p:nvPr/>
        </p:nvSpPr>
        <p:spPr>
          <a:xfrm>
            <a:off x="3931920" y="2871216"/>
            <a:ext cx="914400" cy="201168"/>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029200" y="3291840"/>
            <a:ext cx="1828800" cy="457200"/>
          </a:xfrm>
          <a:prstGeom prst="roundRect">
            <a:avLst/>
          </a:prstGeom>
          <a:solidFill>
            <a:srgbClr val="EEF1F5"/>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a:solidFill>
                  <a:srgbClr val="14233C"/>
                </a:solidFill>
              </a:defRPr>
            </a:pPr>
            <a:r>
              <a:t>analytics</a:t>
            </a:r>
          </a:p>
        </p:txBody>
      </p:sp>
      <p:sp>
        <p:nvSpPr>
          <p:cNvPr id="31" name="Rounded Rectangle 30"/>
          <p:cNvSpPr/>
          <p:nvPr/>
        </p:nvSpPr>
        <p:spPr>
          <a:xfrm>
            <a:off x="1463040" y="3291840"/>
            <a:ext cx="2194560" cy="457200"/>
          </a:xfrm>
          <a:prstGeom prst="roundRect">
            <a:avLst/>
          </a:prstGeom>
          <a:solidFill>
            <a:srgbClr val="EEF1F5"/>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100" b="1">
                <a:solidFill>
                  <a:srgbClr val="14233C"/>
                </a:solidFill>
              </a:defRPr>
            </a:pPr>
            <a:r>
              <a:t>אנליטיקה</a:t>
            </a:r>
          </a:p>
        </p:txBody>
      </p:sp>
      <p:sp>
        <p:nvSpPr>
          <p:cNvPr id="32" name="Left Arrow 31"/>
          <p:cNvSpPr/>
          <p:nvPr/>
        </p:nvSpPr>
        <p:spPr>
          <a:xfrm>
            <a:off x="3931920" y="3419856"/>
            <a:ext cx="914400" cy="201168"/>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5029200" y="3840480"/>
            <a:ext cx="1828800" cy="457200"/>
          </a:xfrm>
          <a:prstGeom prst="roundRect">
            <a:avLst/>
          </a:prstGeom>
          <a:solidFill>
            <a:srgbClr val="EEF1F5"/>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a:solidFill>
                  <a:srgbClr val="14233C"/>
                </a:solidFill>
              </a:defRPr>
            </a:pPr>
            <a:r>
              <a:t>sms</a:t>
            </a:r>
          </a:p>
        </p:txBody>
      </p:sp>
      <p:sp>
        <p:nvSpPr>
          <p:cNvPr id="34" name="Rounded Rectangle 33"/>
          <p:cNvSpPr/>
          <p:nvPr/>
        </p:nvSpPr>
        <p:spPr>
          <a:xfrm>
            <a:off x="1463040" y="3840480"/>
            <a:ext cx="2194560" cy="457200"/>
          </a:xfrm>
          <a:prstGeom prst="roundRect">
            <a:avLst/>
          </a:prstGeom>
          <a:solidFill>
            <a:srgbClr val="EEF1F5"/>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100" b="1">
                <a:solidFill>
                  <a:srgbClr val="14233C"/>
                </a:solidFill>
              </a:defRPr>
            </a:pPr>
            <a:r>
              <a:t>SMS ללקוח</a:t>
            </a:r>
          </a:p>
        </p:txBody>
      </p:sp>
      <p:sp>
        <p:nvSpPr>
          <p:cNvPr id="35" name="Left Arrow 34"/>
          <p:cNvSpPr/>
          <p:nvPr/>
        </p:nvSpPr>
        <p:spPr>
          <a:xfrm>
            <a:off x="3931920" y="3968496"/>
            <a:ext cx="914400" cy="201168"/>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029200" y="4617720"/>
            <a:ext cx="1828800" cy="685800"/>
          </a:xfrm>
          <a:prstGeom prst="roundRect">
            <a:avLst/>
          </a:prstGeom>
          <a:solidFill>
            <a:srgbClr val="EEF1F5"/>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14233C"/>
                </a:solidFill>
              </a:defRPr>
            </a:pPr>
            <a:r>
              <a:t>south-queue</a:t>
            </a:r>
          </a:p>
        </p:txBody>
      </p:sp>
      <p:sp>
        <p:nvSpPr>
          <p:cNvPr id="37" name="Rounded Rectangle 36"/>
          <p:cNvSpPr/>
          <p:nvPr/>
        </p:nvSpPr>
        <p:spPr>
          <a:xfrm>
            <a:off x="1463040" y="4617720"/>
            <a:ext cx="2194560" cy="685800"/>
          </a:xfrm>
          <a:prstGeom prst="roundRect">
            <a:avLst/>
          </a:prstGeom>
          <a:solidFill>
            <a:srgbClr val="EEF1F5"/>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300" b="1">
                <a:solidFill>
                  <a:srgbClr val="14233C"/>
                </a:solidFill>
              </a:defRPr>
            </a:pPr>
            <a:r>
              <a:t>מחסן באר שבע</a:t>
            </a:r>
          </a:p>
          <a:p>
            <a:pPr algn="ctr" rtl="1">
              <a:defRPr sz="1100">
                <a:solidFill>
                  <a:srgbClr val="14233C"/>
                </a:solidFill>
              </a:defRPr>
            </a:pPr>
            <a:r>
              <a:t>רק הזמנות הדרום</a:t>
            </a:r>
          </a:p>
        </p:txBody>
      </p:sp>
      <p:sp>
        <p:nvSpPr>
          <p:cNvPr id="38" name="Left Arrow 37"/>
          <p:cNvSpPr/>
          <p:nvPr/>
        </p:nvSpPr>
        <p:spPr>
          <a:xfrm>
            <a:off x="3931920" y="4860036"/>
            <a:ext cx="914400" cy="201168"/>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5815584"/>
            <a:ext cx="10911535" cy="914400"/>
          </a:xfrm>
          <a:prstGeom prst="rect">
            <a:avLst/>
          </a:prstGeom>
          <a:noFill/>
        </p:spPr>
        <p:txBody>
          <a:bodyPr wrap="square">
            <a:spAutoFit/>
          </a:bodyPr>
          <a:lstStyle/>
          <a:p>
            <a:pPr algn="r" rtl="1">
              <a:defRPr sz="1100" i="1" b="0">
                <a:solidFill>
                  <a:srgbClr val="007AFF"/>
                </a:solidFill>
              </a:defRPr>
            </a:pPr>
            <a:r>
              <a:t>Exchange – שולחן המיון בתוך הברוקר: היצרן שולח אליו ולא לתור, והוא מחליט מי מקבל עותק.   |   Queue – התור שבו ההודעה ממתינה עד שהצרכן פנוי.</a:t>
            </a:r>
          </a:p>
          <a:p>
            <a:pPr algn="r" rtl="1">
              <a:defRPr sz="1100" i="1" b="0">
                <a:solidFill>
                  <a:srgbClr val="007AFF"/>
                </a:solidFill>
              </a:defRPr>
            </a:pPr>
            <a:r>
              <a:t>Binding – החוק שמחבר Exchange לתור, והמחרוזת שעל החץ היא הקריטריון שלו. לדוגמה: 'כל הודעה שמפתחה orders.charge ← עותק ל-charge-queue'. את החוק רושם השירות שקורא מהתור – המחסן מצהיר על warehouse ורושם את החוק שלו – ולא השולח. לכן מנוי חדש אינו נוגע בקוד של היצרן.</a:t>
            </a:r>
          </a:p>
          <a:p>
            <a:pPr algn="r" rtl="1">
              <a:defRPr sz="1100" i="1" b="0">
                <a:solidFill>
                  <a:srgbClr val="007AFF"/>
                </a:solidFill>
              </a:defRPr>
            </a:pPr>
            <a:r>
              <a:t>Consumer – מי שמעבד בפועל, ורץ מחוץ לברוקר. היצרן לא מכיר אף אחד מהם, וזו כל הנקודה.</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none">
            <a:spAutoFit/>
          </a:bodyPr>
          <a:lstStyle/>
          <a:p>
            <a:pPr algn="r" rtl="1">
              <a:defRPr sz="2800" b="1">
                <a:solidFill>
                  <a:srgbClr val="14233C"/>
                </a:solidFill>
              </a:defRPr>
            </a:pPr>
            <a:r>
              <a:t>כשל 1: המנוי האיטי חוסם את כולם</a:t>
            </a:r>
          </a:p>
        </p:txBody>
      </p:sp>
      <p:sp>
        <p:nvSpPr>
          <p:cNvPr id="3" name="Rounded Rectangle 2"/>
          <p:cNvSpPr/>
          <p:nvPr/>
        </p:nvSpPr>
        <p:spPr>
          <a:xfrm>
            <a:off x="4846320" y="1600200"/>
            <a:ext cx="4937760" cy="4160520"/>
          </a:xfrm>
          <a:prstGeom prst="roundRect">
            <a:avLst/>
          </a:prstGeom>
          <a:noFill/>
          <a:ln w="15875">
            <a:solidFill>
              <a:srgbClr val="007AFF"/>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46320" y="5422392"/>
            <a:ext cx="4937760" cy="274320"/>
          </a:xfrm>
          <a:prstGeom prst="rect">
            <a:avLst/>
          </a:prstGeom>
          <a:noFill/>
        </p:spPr>
        <p:txBody>
          <a:bodyPr wrap="none">
            <a:spAutoFit/>
          </a:bodyPr>
          <a:lstStyle/>
          <a:p>
            <a:pPr algn="ctr" rtl="1">
              <a:defRPr sz="1100" b="1">
                <a:solidFill>
                  <a:srgbClr val="007AFF"/>
                </a:solidFill>
              </a:defRPr>
            </a:pPr>
            <a:r>
              <a:t>Message Broker – שרת אחד שמכיל את שניהם</a:t>
            </a:r>
          </a:p>
        </p:txBody>
      </p:sp>
      <p:sp>
        <p:nvSpPr>
          <p:cNvPr id="5" name="TextBox 4"/>
          <p:cNvSpPr txBox="1"/>
          <p:nvPr/>
        </p:nvSpPr>
        <p:spPr>
          <a:xfrm>
            <a:off x="10424160" y="1207008"/>
            <a:ext cx="1554480" cy="274320"/>
          </a:xfrm>
          <a:prstGeom prst="rect">
            <a:avLst/>
          </a:prstGeom>
          <a:noFill/>
        </p:spPr>
        <p:txBody>
          <a:bodyPr wrap="none">
            <a:spAutoFit/>
          </a:bodyPr>
          <a:lstStyle/>
          <a:p>
            <a:pPr algn="ctr">
              <a:defRPr sz="1200" b="1">
                <a:solidFill>
                  <a:srgbClr val="007AFF"/>
                </a:solidFill>
              </a:defRPr>
            </a:pPr>
            <a:r>
              <a:t>Producer</a:t>
            </a:r>
          </a:p>
        </p:txBody>
      </p:sp>
      <p:sp>
        <p:nvSpPr>
          <p:cNvPr id="6" name="TextBox 5"/>
          <p:cNvSpPr txBox="1"/>
          <p:nvPr/>
        </p:nvSpPr>
        <p:spPr>
          <a:xfrm>
            <a:off x="7772400" y="1207008"/>
            <a:ext cx="1828800" cy="274320"/>
          </a:xfrm>
          <a:prstGeom prst="rect">
            <a:avLst/>
          </a:prstGeom>
          <a:noFill/>
        </p:spPr>
        <p:txBody>
          <a:bodyPr wrap="none">
            <a:spAutoFit/>
          </a:bodyPr>
          <a:lstStyle/>
          <a:p>
            <a:pPr algn="ctr">
              <a:defRPr sz="1200" b="1">
                <a:solidFill>
                  <a:srgbClr val="007AFF"/>
                </a:solidFill>
              </a:defRPr>
            </a:pPr>
            <a:r>
              <a:t>Exchange</a:t>
            </a:r>
          </a:p>
        </p:txBody>
      </p:sp>
      <p:sp>
        <p:nvSpPr>
          <p:cNvPr id="7" name="TextBox 6"/>
          <p:cNvSpPr txBox="1"/>
          <p:nvPr/>
        </p:nvSpPr>
        <p:spPr>
          <a:xfrm>
            <a:off x="5029200" y="1207008"/>
            <a:ext cx="1828800" cy="274320"/>
          </a:xfrm>
          <a:prstGeom prst="rect">
            <a:avLst/>
          </a:prstGeom>
          <a:noFill/>
        </p:spPr>
        <p:txBody>
          <a:bodyPr wrap="none">
            <a:spAutoFit/>
          </a:bodyPr>
          <a:lstStyle/>
          <a:p>
            <a:pPr algn="ctr">
              <a:defRPr sz="1200" b="1">
                <a:solidFill>
                  <a:srgbClr val="007AFF"/>
                </a:solidFill>
              </a:defRPr>
            </a:pPr>
            <a:r>
              <a:t>Queue</a:t>
            </a:r>
          </a:p>
        </p:txBody>
      </p:sp>
      <p:sp>
        <p:nvSpPr>
          <p:cNvPr id="8" name="TextBox 7"/>
          <p:cNvSpPr txBox="1"/>
          <p:nvPr/>
        </p:nvSpPr>
        <p:spPr>
          <a:xfrm>
            <a:off x="1463040" y="1207008"/>
            <a:ext cx="2194560" cy="274320"/>
          </a:xfrm>
          <a:prstGeom prst="rect">
            <a:avLst/>
          </a:prstGeom>
          <a:noFill/>
        </p:spPr>
        <p:txBody>
          <a:bodyPr wrap="none">
            <a:spAutoFit/>
          </a:bodyPr>
          <a:lstStyle/>
          <a:p>
            <a:pPr algn="ctr">
              <a:defRPr sz="1200" b="1">
                <a:solidFill>
                  <a:srgbClr val="007AFF"/>
                </a:solidFill>
              </a:defRPr>
            </a:pPr>
            <a:r>
              <a:t>Consumer</a:t>
            </a:r>
          </a:p>
        </p:txBody>
      </p:sp>
      <p:sp>
        <p:nvSpPr>
          <p:cNvPr id="9" name="Rounded Rectangle 8"/>
          <p:cNvSpPr/>
          <p:nvPr/>
        </p:nvSpPr>
        <p:spPr>
          <a:xfrm>
            <a:off x="10424160" y="3063240"/>
            <a:ext cx="1554480" cy="914400"/>
          </a:xfrm>
          <a:prstGeom prst="roundRect">
            <a:avLst/>
          </a:prstGeom>
          <a:solidFill>
            <a:srgbClr val="007AFF"/>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200" b="1">
                <a:solidFill>
                  <a:srgbClr val="FFFFFF"/>
                </a:solidFill>
              </a:defRPr>
            </a:pPr>
            <a:r>
              <a:t>שירות ההזמנות</a:t>
            </a:r>
          </a:p>
          <a:p>
            <a:pPr algn="ctr" rtl="1">
              <a:defRPr sz="1000">
                <a:solidFill>
                  <a:srgbClr val="FFFFFF"/>
                </a:solidFill>
              </a:defRPr>
            </a:pPr>
            <a:r>
              <a:t>מפרסם OrderPlaced</a:t>
            </a:r>
          </a:p>
        </p:txBody>
      </p:sp>
      <p:sp>
        <p:nvSpPr>
          <p:cNvPr id="10" name="Rectangle 9"/>
          <p:cNvSpPr/>
          <p:nvPr/>
        </p:nvSpPr>
        <p:spPr>
          <a:xfrm>
            <a:off x="10012680" y="2080260"/>
            <a:ext cx="45720" cy="2880360"/>
          </a:xfrm>
          <a:prstGeom prst="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012680" y="3493008"/>
            <a:ext cx="411480" cy="54864"/>
          </a:xfrm>
          <a:prstGeom prst="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eft Arrow 11"/>
          <p:cNvSpPr/>
          <p:nvPr/>
        </p:nvSpPr>
        <p:spPr>
          <a:xfrm>
            <a:off x="9601200" y="1952243"/>
            <a:ext cx="411480" cy="256032"/>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eft Arrow 12"/>
          <p:cNvSpPr/>
          <p:nvPr/>
        </p:nvSpPr>
        <p:spPr>
          <a:xfrm>
            <a:off x="6949440" y="1952243"/>
            <a:ext cx="822960" cy="256032"/>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ft Arrow 13"/>
          <p:cNvSpPr/>
          <p:nvPr/>
        </p:nvSpPr>
        <p:spPr>
          <a:xfrm>
            <a:off x="9601200" y="3392424"/>
            <a:ext cx="411480" cy="256032"/>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Left Arrow 14"/>
          <p:cNvSpPr/>
          <p:nvPr/>
        </p:nvSpPr>
        <p:spPr>
          <a:xfrm>
            <a:off x="6949440" y="3392424"/>
            <a:ext cx="822960" cy="256032"/>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Left Arrow 15"/>
          <p:cNvSpPr/>
          <p:nvPr/>
        </p:nvSpPr>
        <p:spPr>
          <a:xfrm>
            <a:off x="9601200" y="4832604"/>
            <a:ext cx="411480" cy="256032"/>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ft Arrow 16"/>
          <p:cNvSpPr/>
          <p:nvPr/>
        </p:nvSpPr>
        <p:spPr>
          <a:xfrm>
            <a:off x="6949440" y="4832604"/>
            <a:ext cx="822960" cy="256032"/>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772400" y="1737360"/>
            <a:ext cx="1828800" cy="6858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BCC0C6"/>
                </a:solidFill>
              </a:defRPr>
            </a:pPr>
            <a:r>
              <a:t>Direct</a:t>
            </a:r>
          </a:p>
        </p:txBody>
      </p:sp>
      <p:sp>
        <p:nvSpPr>
          <p:cNvPr id="19" name="Rounded Rectangle 18"/>
          <p:cNvSpPr/>
          <p:nvPr/>
        </p:nvSpPr>
        <p:spPr>
          <a:xfrm>
            <a:off x="7772400" y="3177540"/>
            <a:ext cx="1828800" cy="6858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BCC0C6"/>
                </a:solidFill>
              </a:defRPr>
            </a:pPr>
            <a:r>
              <a:t>Fanout</a:t>
            </a:r>
          </a:p>
        </p:txBody>
      </p:sp>
      <p:sp>
        <p:nvSpPr>
          <p:cNvPr id="20" name="Rounded Rectangle 19"/>
          <p:cNvSpPr/>
          <p:nvPr/>
        </p:nvSpPr>
        <p:spPr>
          <a:xfrm>
            <a:off x="7772400" y="4617720"/>
            <a:ext cx="1828800" cy="6858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BCC0C6"/>
                </a:solidFill>
              </a:defRPr>
            </a:pPr>
            <a:r>
              <a:t>Topic</a:t>
            </a:r>
          </a:p>
        </p:txBody>
      </p:sp>
      <p:sp>
        <p:nvSpPr>
          <p:cNvPr id="21" name="TextBox 20"/>
          <p:cNvSpPr txBox="1"/>
          <p:nvPr/>
        </p:nvSpPr>
        <p:spPr>
          <a:xfrm>
            <a:off x="6876288" y="1604772"/>
            <a:ext cx="877824" cy="256032"/>
          </a:xfrm>
          <a:prstGeom prst="rect">
            <a:avLst/>
          </a:prstGeom>
          <a:noFill/>
        </p:spPr>
        <p:txBody>
          <a:bodyPr wrap="none">
            <a:spAutoFit/>
          </a:bodyPr>
          <a:lstStyle/>
          <a:p>
            <a:pPr algn="ctr">
              <a:defRPr sz="900">
                <a:solidFill>
                  <a:srgbClr val="BCC0C6"/>
                </a:solidFill>
              </a:defRPr>
            </a:pPr>
            <a:r>
              <a:t>orders.charge</a:t>
            </a:r>
          </a:p>
        </p:txBody>
      </p:sp>
      <p:sp>
        <p:nvSpPr>
          <p:cNvPr id="22" name="TextBox 21"/>
          <p:cNvSpPr txBox="1"/>
          <p:nvPr/>
        </p:nvSpPr>
        <p:spPr>
          <a:xfrm>
            <a:off x="6876288" y="3044952"/>
            <a:ext cx="877824" cy="256032"/>
          </a:xfrm>
          <a:prstGeom prst="rect">
            <a:avLst/>
          </a:prstGeom>
          <a:noFill/>
        </p:spPr>
        <p:txBody>
          <a:bodyPr wrap="none">
            <a:spAutoFit/>
          </a:bodyPr>
          <a:lstStyle/>
          <a:p>
            <a:pPr algn="ctr" rtl="1">
              <a:defRPr sz="900">
                <a:solidFill>
                  <a:srgbClr val="BCC0C6"/>
                </a:solidFill>
              </a:defRPr>
            </a:pPr>
            <a:r>
              <a:t>ללא מפתח</a:t>
            </a:r>
          </a:p>
        </p:txBody>
      </p:sp>
      <p:sp>
        <p:nvSpPr>
          <p:cNvPr id="23" name="TextBox 22"/>
          <p:cNvSpPr txBox="1"/>
          <p:nvPr/>
        </p:nvSpPr>
        <p:spPr>
          <a:xfrm>
            <a:off x="6876288" y="4485131"/>
            <a:ext cx="877824" cy="256032"/>
          </a:xfrm>
          <a:prstGeom prst="rect">
            <a:avLst/>
          </a:prstGeom>
          <a:noFill/>
        </p:spPr>
        <p:txBody>
          <a:bodyPr wrap="none">
            <a:spAutoFit/>
          </a:bodyPr>
          <a:lstStyle/>
          <a:p>
            <a:pPr algn="ctr">
              <a:defRPr sz="900">
                <a:solidFill>
                  <a:srgbClr val="BCC0C6"/>
                </a:solidFill>
              </a:defRPr>
            </a:pPr>
            <a:r>
              <a:t>order.il.south.#</a:t>
            </a:r>
          </a:p>
        </p:txBody>
      </p:sp>
      <p:sp>
        <p:nvSpPr>
          <p:cNvPr id="24" name="Rounded Rectangle 23"/>
          <p:cNvSpPr/>
          <p:nvPr/>
        </p:nvSpPr>
        <p:spPr>
          <a:xfrm>
            <a:off x="5029200" y="1737360"/>
            <a:ext cx="1828800" cy="6858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BCC0C6"/>
                </a:solidFill>
              </a:defRPr>
            </a:pPr>
            <a:r>
              <a:t>charge-queue</a:t>
            </a:r>
          </a:p>
        </p:txBody>
      </p:sp>
      <p:sp>
        <p:nvSpPr>
          <p:cNvPr id="25" name="Rounded Rectangle 24"/>
          <p:cNvSpPr/>
          <p:nvPr/>
        </p:nvSpPr>
        <p:spPr>
          <a:xfrm>
            <a:off x="1463040" y="1737360"/>
            <a:ext cx="2194560" cy="6858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300" b="1">
                <a:solidFill>
                  <a:srgbClr val="BCC0C6"/>
                </a:solidFill>
              </a:defRPr>
            </a:pPr>
            <a:r>
              <a:t>עשרה Workers  (3)</a:t>
            </a:r>
          </a:p>
          <a:p>
            <a:pPr algn="ctr" rtl="1">
              <a:defRPr sz="1100">
                <a:solidFill>
                  <a:srgbClr val="BCC0C6"/>
                </a:solidFill>
              </a:defRPr>
            </a:pPr>
            <a:r>
              <a:t>חיוב הכרטיס</a:t>
            </a:r>
          </a:p>
        </p:txBody>
      </p:sp>
      <p:sp>
        <p:nvSpPr>
          <p:cNvPr id="26" name="Left Arrow 25"/>
          <p:cNvSpPr/>
          <p:nvPr/>
        </p:nvSpPr>
        <p:spPr>
          <a:xfrm>
            <a:off x="3931920" y="1979676"/>
            <a:ext cx="914400" cy="201168"/>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029200" y="2743200"/>
            <a:ext cx="1828800" cy="4572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a:solidFill>
                  <a:srgbClr val="BCC0C6"/>
                </a:solidFill>
              </a:defRPr>
            </a:pPr>
            <a:r>
              <a:t>warehouse</a:t>
            </a:r>
          </a:p>
        </p:txBody>
      </p:sp>
      <p:sp>
        <p:nvSpPr>
          <p:cNvPr id="28" name="Rounded Rectangle 27"/>
          <p:cNvSpPr/>
          <p:nvPr/>
        </p:nvSpPr>
        <p:spPr>
          <a:xfrm>
            <a:off x="1463040" y="2743200"/>
            <a:ext cx="2194560" cy="4572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100" b="1">
                <a:solidFill>
                  <a:srgbClr val="BCC0C6"/>
                </a:solidFill>
              </a:defRPr>
            </a:pPr>
            <a:r>
              <a:t>מחסן</a:t>
            </a:r>
          </a:p>
        </p:txBody>
      </p:sp>
      <p:sp>
        <p:nvSpPr>
          <p:cNvPr id="29" name="Left Arrow 28"/>
          <p:cNvSpPr/>
          <p:nvPr/>
        </p:nvSpPr>
        <p:spPr>
          <a:xfrm>
            <a:off x="3931920" y="2871216"/>
            <a:ext cx="914400" cy="201168"/>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029200" y="3291840"/>
            <a:ext cx="1828800" cy="457200"/>
          </a:xfrm>
          <a:prstGeom prst="roundRect">
            <a:avLst/>
          </a:prstGeom>
          <a:solidFill>
            <a:srgbClr val="FDEAEA"/>
          </a:solidFill>
          <a:ln w="12700">
            <a:solidFill>
              <a:srgbClr val="C5303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a:solidFill>
                  <a:srgbClr val="C53030"/>
                </a:solidFill>
              </a:defRPr>
            </a:pPr>
            <a:r>
              <a:t>analytics  (1)</a:t>
            </a:r>
          </a:p>
        </p:txBody>
      </p:sp>
      <p:sp>
        <p:nvSpPr>
          <p:cNvPr id="31" name="Rounded Rectangle 30"/>
          <p:cNvSpPr/>
          <p:nvPr/>
        </p:nvSpPr>
        <p:spPr>
          <a:xfrm>
            <a:off x="1463040" y="3291840"/>
            <a:ext cx="2194560" cy="457200"/>
          </a:xfrm>
          <a:prstGeom prst="roundRect">
            <a:avLst/>
          </a:prstGeom>
          <a:solidFill>
            <a:srgbClr val="FDEAEA"/>
          </a:solidFill>
          <a:ln w="12700">
            <a:solidFill>
              <a:srgbClr val="C5303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100" b="1">
                <a:solidFill>
                  <a:srgbClr val="C53030"/>
                </a:solidFill>
              </a:defRPr>
            </a:pPr>
            <a:r>
              <a:t>אנליטיקה</a:t>
            </a:r>
          </a:p>
        </p:txBody>
      </p:sp>
      <p:sp>
        <p:nvSpPr>
          <p:cNvPr id="32" name="Left Arrow 31"/>
          <p:cNvSpPr/>
          <p:nvPr/>
        </p:nvSpPr>
        <p:spPr>
          <a:xfrm>
            <a:off x="3931920" y="3419856"/>
            <a:ext cx="914400" cy="201168"/>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5029200" y="3840480"/>
            <a:ext cx="1828800" cy="4572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a:solidFill>
                  <a:srgbClr val="BCC0C6"/>
                </a:solidFill>
              </a:defRPr>
            </a:pPr>
            <a:r>
              <a:t>sms  (2)</a:t>
            </a:r>
          </a:p>
        </p:txBody>
      </p:sp>
      <p:sp>
        <p:nvSpPr>
          <p:cNvPr id="34" name="Rounded Rectangle 33"/>
          <p:cNvSpPr/>
          <p:nvPr/>
        </p:nvSpPr>
        <p:spPr>
          <a:xfrm>
            <a:off x="1463040" y="3840480"/>
            <a:ext cx="2194560" cy="4572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100" b="1">
                <a:solidFill>
                  <a:srgbClr val="BCC0C6"/>
                </a:solidFill>
              </a:defRPr>
            </a:pPr>
            <a:r>
              <a:t>SMS ללקוח</a:t>
            </a:r>
          </a:p>
        </p:txBody>
      </p:sp>
      <p:sp>
        <p:nvSpPr>
          <p:cNvPr id="35" name="Left Arrow 34"/>
          <p:cNvSpPr/>
          <p:nvPr/>
        </p:nvSpPr>
        <p:spPr>
          <a:xfrm>
            <a:off x="3931920" y="3968496"/>
            <a:ext cx="914400" cy="201168"/>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029200" y="4617720"/>
            <a:ext cx="1828800" cy="6858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BCC0C6"/>
                </a:solidFill>
              </a:defRPr>
            </a:pPr>
            <a:r>
              <a:t>south-queue</a:t>
            </a:r>
          </a:p>
        </p:txBody>
      </p:sp>
      <p:sp>
        <p:nvSpPr>
          <p:cNvPr id="37" name="Rounded Rectangle 36"/>
          <p:cNvSpPr/>
          <p:nvPr/>
        </p:nvSpPr>
        <p:spPr>
          <a:xfrm>
            <a:off x="1463040" y="4617720"/>
            <a:ext cx="2194560" cy="6858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300" b="1">
                <a:solidFill>
                  <a:srgbClr val="BCC0C6"/>
                </a:solidFill>
              </a:defRPr>
            </a:pPr>
            <a:r>
              <a:t>מחסן באר שבע</a:t>
            </a:r>
          </a:p>
          <a:p>
            <a:pPr algn="ctr" rtl="1">
              <a:defRPr sz="1100">
                <a:solidFill>
                  <a:srgbClr val="BCC0C6"/>
                </a:solidFill>
              </a:defRPr>
            </a:pPr>
            <a:r>
              <a:t>רק הזמנות הדרום</a:t>
            </a:r>
          </a:p>
        </p:txBody>
      </p:sp>
      <p:sp>
        <p:nvSpPr>
          <p:cNvPr id="38" name="Left Arrow 37"/>
          <p:cNvSpPr/>
          <p:nvPr/>
        </p:nvSpPr>
        <p:spPr>
          <a:xfrm>
            <a:off x="3931920" y="4860036"/>
            <a:ext cx="914400" cy="201168"/>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5815584"/>
            <a:ext cx="10911535" cy="914400"/>
          </a:xfrm>
          <a:prstGeom prst="rect">
            <a:avLst/>
          </a:prstGeom>
          <a:noFill/>
        </p:spPr>
        <p:txBody>
          <a:bodyPr wrap="square">
            <a:spAutoFit/>
          </a:bodyPr>
          <a:lstStyle/>
          <a:p>
            <a:pPr algn="r" rtl="1">
              <a:defRPr sz="1100" i="0" b="1">
                <a:solidFill>
                  <a:srgbClr val="C53030"/>
                </a:solidFill>
              </a:defRPr>
            </a:pPr>
            <a:r>
              <a:t>(1) האנליטיקה איטית: התור תופח, הברוקר מגיע לסף הזיכרון וחוסם את היצרנים – וגם המחסן, שבריא לגמרי, מורעב. הפתרון: prefetch נמוך.</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none">
            <a:spAutoFit/>
          </a:bodyPr>
          <a:lstStyle/>
          <a:p>
            <a:pPr algn="r" rtl="1">
              <a:defRPr sz="2800" b="1">
                <a:solidFill>
                  <a:srgbClr val="14233C"/>
                </a:solidFill>
              </a:defRPr>
            </a:pPr>
            <a:r>
              <a:t>כשל 2: ההודעה שנכשלת שוב ושוב</a:t>
            </a:r>
          </a:p>
        </p:txBody>
      </p:sp>
      <p:sp>
        <p:nvSpPr>
          <p:cNvPr id="3" name="Rounded Rectangle 2"/>
          <p:cNvSpPr/>
          <p:nvPr/>
        </p:nvSpPr>
        <p:spPr>
          <a:xfrm>
            <a:off x="4846320" y="1600200"/>
            <a:ext cx="4937760" cy="4160520"/>
          </a:xfrm>
          <a:prstGeom prst="roundRect">
            <a:avLst/>
          </a:prstGeom>
          <a:noFill/>
          <a:ln w="15875">
            <a:solidFill>
              <a:srgbClr val="007AFF"/>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46320" y="5422392"/>
            <a:ext cx="4937760" cy="274320"/>
          </a:xfrm>
          <a:prstGeom prst="rect">
            <a:avLst/>
          </a:prstGeom>
          <a:noFill/>
        </p:spPr>
        <p:txBody>
          <a:bodyPr wrap="none">
            <a:spAutoFit/>
          </a:bodyPr>
          <a:lstStyle/>
          <a:p>
            <a:pPr algn="ctr" rtl="1">
              <a:defRPr sz="1100" b="1">
                <a:solidFill>
                  <a:srgbClr val="007AFF"/>
                </a:solidFill>
              </a:defRPr>
            </a:pPr>
            <a:r>
              <a:t>Message Broker – שרת אחד שמכיל את שניהם</a:t>
            </a:r>
          </a:p>
        </p:txBody>
      </p:sp>
      <p:sp>
        <p:nvSpPr>
          <p:cNvPr id="5" name="TextBox 4"/>
          <p:cNvSpPr txBox="1"/>
          <p:nvPr/>
        </p:nvSpPr>
        <p:spPr>
          <a:xfrm>
            <a:off x="10424160" y="1207008"/>
            <a:ext cx="1554480" cy="274320"/>
          </a:xfrm>
          <a:prstGeom prst="rect">
            <a:avLst/>
          </a:prstGeom>
          <a:noFill/>
        </p:spPr>
        <p:txBody>
          <a:bodyPr wrap="none">
            <a:spAutoFit/>
          </a:bodyPr>
          <a:lstStyle/>
          <a:p>
            <a:pPr algn="ctr">
              <a:defRPr sz="1200" b="1">
                <a:solidFill>
                  <a:srgbClr val="007AFF"/>
                </a:solidFill>
              </a:defRPr>
            </a:pPr>
            <a:r>
              <a:t>Producer</a:t>
            </a:r>
          </a:p>
        </p:txBody>
      </p:sp>
      <p:sp>
        <p:nvSpPr>
          <p:cNvPr id="6" name="TextBox 5"/>
          <p:cNvSpPr txBox="1"/>
          <p:nvPr/>
        </p:nvSpPr>
        <p:spPr>
          <a:xfrm>
            <a:off x="7772400" y="1207008"/>
            <a:ext cx="1828800" cy="274320"/>
          </a:xfrm>
          <a:prstGeom prst="rect">
            <a:avLst/>
          </a:prstGeom>
          <a:noFill/>
        </p:spPr>
        <p:txBody>
          <a:bodyPr wrap="none">
            <a:spAutoFit/>
          </a:bodyPr>
          <a:lstStyle/>
          <a:p>
            <a:pPr algn="ctr">
              <a:defRPr sz="1200" b="1">
                <a:solidFill>
                  <a:srgbClr val="007AFF"/>
                </a:solidFill>
              </a:defRPr>
            </a:pPr>
            <a:r>
              <a:t>Exchange</a:t>
            </a:r>
          </a:p>
        </p:txBody>
      </p:sp>
      <p:sp>
        <p:nvSpPr>
          <p:cNvPr id="7" name="TextBox 6"/>
          <p:cNvSpPr txBox="1"/>
          <p:nvPr/>
        </p:nvSpPr>
        <p:spPr>
          <a:xfrm>
            <a:off x="5029200" y="1207008"/>
            <a:ext cx="1828800" cy="274320"/>
          </a:xfrm>
          <a:prstGeom prst="rect">
            <a:avLst/>
          </a:prstGeom>
          <a:noFill/>
        </p:spPr>
        <p:txBody>
          <a:bodyPr wrap="none">
            <a:spAutoFit/>
          </a:bodyPr>
          <a:lstStyle/>
          <a:p>
            <a:pPr algn="ctr">
              <a:defRPr sz="1200" b="1">
                <a:solidFill>
                  <a:srgbClr val="007AFF"/>
                </a:solidFill>
              </a:defRPr>
            </a:pPr>
            <a:r>
              <a:t>Queue</a:t>
            </a:r>
          </a:p>
        </p:txBody>
      </p:sp>
      <p:sp>
        <p:nvSpPr>
          <p:cNvPr id="8" name="TextBox 7"/>
          <p:cNvSpPr txBox="1"/>
          <p:nvPr/>
        </p:nvSpPr>
        <p:spPr>
          <a:xfrm>
            <a:off x="1463040" y="1207008"/>
            <a:ext cx="2194560" cy="274320"/>
          </a:xfrm>
          <a:prstGeom prst="rect">
            <a:avLst/>
          </a:prstGeom>
          <a:noFill/>
        </p:spPr>
        <p:txBody>
          <a:bodyPr wrap="none">
            <a:spAutoFit/>
          </a:bodyPr>
          <a:lstStyle/>
          <a:p>
            <a:pPr algn="ctr">
              <a:defRPr sz="1200" b="1">
                <a:solidFill>
                  <a:srgbClr val="007AFF"/>
                </a:solidFill>
              </a:defRPr>
            </a:pPr>
            <a:r>
              <a:t>Consumer</a:t>
            </a:r>
          </a:p>
        </p:txBody>
      </p:sp>
      <p:sp>
        <p:nvSpPr>
          <p:cNvPr id="9" name="Rounded Rectangle 8"/>
          <p:cNvSpPr/>
          <p:nvPr/>
        </p:nvSpPr>
        <p:spPr>
          <a:xfrm>
            <a:off x="10424160" y="3063240"/>
            <a:ext cx="1554480" cy="914400"/>
          </a:xfrm>
          <a:prstGeom prst="roundRect">
            <a:avLst/>
          </a:prstGeom>
          <a:solidFill>
            <a:srgbClr val="007AFF"/>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200" b="1">
                <a:solidFill>
                  <a:srgbClr val="FFFFFF"/>
                </a:solidFill>
              </a:defRPr>
            </a:pPr>
            <a:r>
              <a:t>שירות ההזמנות</a:t>
            </a:r>
          </a:p>
          <a:p>
            <a:pPr algn="ctr" rtl="1">
              <a:defRPr sz="1000">
                <a:solidFill>
                  <a:srgbClr val="FFFFFF"/>
                </a:solidFill>
              </a:defRPr>
            </a:pPr>
            <a:r>
              <a:t>מפרסם OrderPlaced</a:t>
            </a:r>
          </a:p>
        </p:txBody>
      </p:sp>
      <p:sp>
        <p:nvSpPr>
          <p:cNvPr id="10" name="Rectangle 9"/>
          <p:cNvSpPr/>
          <p:nvPr/>
        </p:nvSpPr>
        <p:spPr>
          <a:xfrm>
            <a:off x="10012680" y="2080260"/>
            <a:ext cx="45720" cy="2880360"/>
          </a:xfrm>
          <a:prstGeom prst="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012680" y="3493008"/>
            <a:ext cx="411480" cy="54864"/>
          </a:xfrm>
          <a:prstGeom prst="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eft Arrow 11"/>
          <p:cNvSpPr/>
          <p:nvPr/>
        </p:nvSpPr>
        <p:spPr>
          <a:xfrm>
            <a:off x="9601200" y="1952243"/>
            <a:ext cx="411480" cy="256032"/>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eft Arrow 12"/>
          <p:cNvSpPr/>
          <p:nvPr/>
        </p:nvSpPr>
        <p:spPr>
          <a:xfrm>
            <a:off x="6949440" y="1952243"/>
            <a:ext cx="822960" cy="256032"/>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ft Arrow 13"/>
          <p:cNvSpPr/>
          <p:nvPr/>
        </p:nvSpPr>
        <p:spPr>
          <a:xfrm>
            <a:off x="9601200" y="3392424"/>
            <a:ext cx="411480" cy="256032"/>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Left Arrow 14"/>
          <p:cNvSpPr/>
          <p:nvPr/>
        </p:nvSpPr>
        <p:spPr>
          <a:xfrm>
            <a:off x="6949440" y="3392424"/>
            <a:ext cx="822960" cy="256032"/>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Left Arrow 15"/>
          <p:cNvSpPr/>
          <p:nvPr/>
        </p:nvSpPr>
        <p:spPr>
          <a:xfrm>
            <a:off x="9601200" y="4832604"/>
            <a:ext cx="411480" cy="256032"/>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ft Arrow 16"/>
          <p:cNvSpPr/>
          <p:nvPr/>
        </p:nvSpPr>
        <p:spPr>
          <a:xfrm>
            <a:off x="6949440" y="4832604"/>
            <a:ext cx="822960" cy="256032"/>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772400" y="1737360"/>
            <a:ext cx="1828800" cy="6858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BCC0C6"/>
                </a:solidFill>
              </a:defRPr>
            </a:pPr>
            <a:r>
              <a:t>Direct</a:t>
            </a:r>
          </a:p>
        </p:txBody>
      </p:sp>
      <p:sp>
        <p:nvSpPr>
          <p:cNvPr id="19" name="Rounded Rectangle 18"/>
          <p:cNvSpPr/>
          <p:nvPr/>
        </p:nvSpPr>
        <p:spPr>
          <a:xfrm>
            <a:off x="7772400" y="3177540"/>
            <a:ext cx="1828800" cy="6858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BCC0C6"/>
                </a:solidFill>
              </a:defRPr>
            </a:pPr>
            <a:r>
              <a:t>Fanout</a:t>
            </a:r>
          </a:p>
        </p:txBody>
      </p:sp>
      <p:sp>
        <p:nvSpPr>
          <p:cNvPr id="20" name="Rounded Rectangle 19"/>
          <p:cNvSpPr/>
          <p:nvPr/>
        </p:nvSpPr>
        <p:spPr>
          <a:xfrm>
            <a:off x="7772400" y="4617720"/>
            <a:ext cx="1828800" cy="6858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BCC0C6"/>
                </a:solidFill>
              </a:defRPr>
            </a:pPr>
            <a:r>
              <a:t>Topic</a:t>
            </a:r>
          </a:p>
        </p:txBody>
      </p:sp>
      <p:sp>
        <p:nvSpPr>
          <p:cNvPr id="21" name="TextBox 20"/>
          <p:cNvSpPr txBox="1"/>
          <p:nvPr/>
        </p:nvSpPr>
        <p:spPr>
          <a:xfrm>
            <a:off x="6876288" y="1604772"/>
            <a:ext cx="877824" cy="256032"/>
          </a:xfrm>
          <a:prstGeom prst="rect">
            <a:avLst/>
          </a:prstGeom>
          <a:noFill/>
        </p:spPr>
        <p:txBody>
          <a:bodyPr wrap="none">
            <a:spAutoFit/>
          </a:bodyPr>
          <a:lstStyle/>
          <a:p>
            <a:pPr algn="ctr">
              <a:defRPr sz="900">
                <a:solidFill>
                  <a:srgbClr val="BCC0C6"/>
                </a:solidFill>
              </a:defRPr>
            </a:pPr>
            <a:r>
              <a:t>orders.charge</a:t>
            </a:r>
          </a:p>
        </p:txBody>
      </p:sp>
      <p:sp>
        <p:nvSpPr>
          <p:cNvPr id="22" name="TextBox 21"/>
          <p:cNvSpPr txBox="1"/>
          <p:nvPr/>
        </p:nvSpPr>
        <p:spPr>
          <a:xfrm>
            <a:off x="6876288" y="3044952"/>
            <a:ext cx="877824" cy="256032"/>
          </a:xfrm>
          <a:prstGeom prst="rect">
            <a:avLst/>
          </a:prstGeom>
          <a:noFill/>
        </p:spPr>
        <p:txBody>
          <a:bodyPr wrap="none">
            <a:spAutoFit/>
          </a:bodyPr>
          <a:lstStyle/>
          <a:p>
            <a:pPr algn="ctr" rtl="1">
              <a:defRPr sz="900">
                <a:solidFill>
                  <a:srgbClr val="BCC0C6"/>
                </a:solidFill>
              </a:defRPr>
            </a:pPr>
            <a:r>
              <a:t>ללא מפתח</a:t>
            </a:r>
          </a:p>
        </p:txBody>
      </p:sp>
      <p:sp>
        <p:nvSpPr>
          <p:cNvPr id="23" name="TextBox 22"/>
          <p:cNvSpPr txBox="1"/>
          <p:nvPr/>
        </p:nvSpPr>
        <p:spPr>
          <a:xfrm>
            <a:off x="6876288" y="4485131"/>
            <a:ext cx="877824" cy="256032"/>
          </a:xfrm>
          <a:prstGeom prst="rect">
            <a:avLst/>
          </a:prstGeom>
          <a:noFill/>
        </p:spPr>
        <p:txBody>
          <a:bodyPr wrap="none">
            <a:spAutoFit/>
          </a:bodyPr>
          <a:lstStyle/>
          <a:p>
            <a:pPr algn="ctr">
              <a:defRPr sz="900">
                <a:solidFill>
                  <a:srgbClr val="BCC0C6"/>
                </a:solidFill>
              </a:defRPr>
            </a:pPr>
            <a:r>
              <a:t>order.il.south.#</a:t>
            </a:r>
          </a:p>
        </p:txBody>
      </p:sp>
      <p:sp>
        <p:nvSpPr>
          <p:cNvPr id="24" name="Rounded Rectangle 23"/>
          <p:cNvSpPr/>
          <p:nvPr/>
        </p:nvSpPr>
        <p:spPr>
          <a:xfrm>
            <a:off x="5029200" y="1737360"/>
            <a:ext cx="1828800" cy="6858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BCC0C6"/>
                </a:solidFill>
              </a:defRPr>
            </a:pPr>
            <a:r>
              <a:t>charge-queue</a:t>
            </a:r>
          </a:p>
        </p:txBody>
      </p:sp>
      <p:sp>
        <p:nvSpPr>
          <p:cNvPr id="25" name="Rounded Rectangle 24"/>
          <p:cNvSpPr/>
          <p:nvPr/>
        </p:nvSpPr>
        <p:spPr>
          <a:xfrm>
            <a:off x="1463040" y="1737360"/>
            <a:ext cx="2194560" cy="6858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300" b="1">
                <a:solidFill>
                  <a:srgbClr val="BCC0C6"/>
                </a:solidFill>
              </a:defRPr>
            </a:pPr>
            <a:r>
              <a:t>עשרה Workers  (3)</a:t>
            </a:r>
          </a:p>
          <a:p>
            <a:pPr algn="ctr" rtl="1">
              <a:defRPr sz="1100">
                <a:solidFill>
                  <a:srgbClr val="BCC0C6"/>
                </a:solidFill>
              </a:defRPr>
            </a:pPr>
            <a:r>
              <a:t>חיוב הכרטיס</a:t>
            </a:r>
          </a:p>
        </p:txBody>
      </p:sp>
      <p:sp>
        <p:nvSpPr>
          <p:cNvPr id="26" name="Left Arrow 25"/>
          <p:cNvSpPr/>
          <p:nvPr/>
        </p:nvSpPr>
        <p:spPr>
          <a:xfrm>
            <a:off x="3931920" y="1979676"/>
            <a:ext cx="914400" cy="201168"/>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029200" y="2743200"/>
            <a:ext cx="1828800" cy="4572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a:solidFill>
                  <a:srgbClr val="BCC0C6"/>
                </a:solidFill>
              </a:defRPr>
            </a:pPr>
            <a:r>
              <a:t>warehouse</a:t>
            </a:r>
          </a:p>
        </p:txBody>
      </p:sp>
      <p:sp>
        <p:nvSpPr>
          <p:cNvPr id="28" name="Rounded Rectangle 27"/>
          <p:cNvSpPr/>
          <p:nvPr/>
        </p:nvSpPr>
        <p:spPr>
          <a:xfrm>
            <a:off x="1463040" y="2743200"/>
            <a:ext cx="2194560" cy="4572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100" b="1">
                <a:solidFill>
                  <a:srgbClr val="BCC0C6"/>
                </a:solidFill>
              </a:defRPr>
            </a:pPr>
            <a:r>
              <a:t>מחסן</a:t>
            </a:r>
          </a:p>
        </p:txBody>
      </p:sp>
      <p:sp>
        <p:nvSpPr>
          <p:cNvPr id="29" name="Left Arrow 28"/>
          <p:cNvSpPr/>
          <p:nvPr/>
        </p:nvSpPr>
        <p:spPr>
          <a:xfrm>
            <a:off x="3931920" y="2871216"/>
            <a:ext cx="914400" cy="201168"/>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029200" y="3291840"/>
            <a:ext cx="1828800" cy="4572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a:solidFill>
                  <a:srgbClr val="BCC0C6"/>
                </a:solidFill>
              </a:defRPr>
            </a:pPr>
            <a:r>
              <a:t>analytics  (1)</a:t>
            </a:r>
          </a:p>
        </p:txBody>
      </p:sp>
      <p:sp>
        <p:nvSpPr>
          <p:cNvPr id="31" name="Rounded Rectangle 30"/>
          <p:cNvSpPr/>
          <p:nvPr/>
        </p:nvSpPr>
        <p:spPr>
          <a:xfrm>
            <a:off x="1463040" y="3291840"/>
            <a:ext cx="2194560" cy="4572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100" b="1">
                <a:solidFill>
                  <a:srgbClr val="BCC0C6"/>
                </a:solidFill>
              </a:defRPr>
            </a:pPr>
            <a:r>
              <a:t>אנליטיקה</a:t>
            </a:r>
          </a:p>
        </p:txBody>
      </p:sp>
      <p:sp>
        <p:nvSpPr>
          <p:cNvPr id="32" name="Left Arrow 31"/>
          <p:cNvSpPr/>
          <p:nvPr/>
        </p:nvSpPr>
        <p:spPr>
          <a:xfrm>
            <a:off x="3931920" y="3419856"/>
            <a:ext cx="914400" cy="201168"/>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5029200" y="3840480"/>
            <a:ext cx="1828800" cy="457200"/>
          </a:xfrm>
          <a:prstGeom prst="roundRect">
            <a:avLst/>
          </a:prstGeom>
          <a:solidFill>
            <a:srgbClr val="FDEAEA"/>
          </a:solidFill>
          <a:ln w="12700">
            <a:solidFill>
              <a:srgbClr val="C5303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a:solidFill>
                  <a:srgbClr val="C53030"/>
                </a:solidFill>
              </a:defRPr>
            </a:pPr>
            <a:r>
              <a:t>sms  (2)</a:t>
            </a:r>
          </a:p>
        </p:txBody>
      </p:sp>
      <p:sp>
        <p:nvSpPr>
          <p:cNvPr id="34" name="Rounded Rectangle 33"/>
          <p:cNvSpPr/>
          <p:nvPr/>
        </p:nvSpPr>
        <p:spPr>
          <a:xfrm>
            <a:off x="1463040" y="3840480"/>
            <a:ext cx="2194560" cy="457200"/>
          </a:xfrm>
          <a:prstGeom prst="roundRect">
            <a:avLst/>
          </a:prstGeom>
          <a:solidFill>
            <a:srgbClr val="FDEAEA"/>
          </a:solidFill>
          <a:ln w="12700">
            <a:solidFill>
              <a:srgbClr val="C5303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100" b="1">
                <a:solidFill>
                  <a:srgbClr val="C53030"/>
                </a:solidFill>
              </a:defRPr>
            </a:pPr>
            <a:r>
              <a:t>SMS ללקוח</a:t>
            </a:r>
          </a:p>
        </p:txBody>
      </p:sp>
      <p:sp>
        <p:nvSpPr>
          <p:cNvPr id="35" name="Left Arrow 34"/>
          <p:cNvSpPr/>
          <p:nvPr/>
        </p:nvSpPr>
        <p:spPr>
          <a:xfrm>
            <a:off x="3931920" y="3968496"/>
            <a:ext cx="914400" cy="201168"/>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029200" y="4617720"/>
            <a:ext cx="1828800" cy="6858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BCC0C6"/>
                </a:solidFill>
              </a:defRPr>
            </a:pPr>
            <a:r>
              <a:t>south-queue</a:t>
            </a:r>
          </a:p>
        </p:txBody>
      </p:sp>
      <p:sp>
        <p:nvSpPr>
          <p:cNvPr id="37" name="Rounded Rectangle 36"/>
          <p:cNvSpPr/>
          <p:nvPr/>
        </p:nvSpPr>
        <p:spPr>
          <a:xfrm>
            <a:off x="1463040" y="4617720"/>
            <a:ext cx="2194560" cy="6858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300" b="1">
                <a:solidFill>
                  <a:srgbClr val="BCC0C6"/>
                </a:solidFill>
              </a:defRPr>
            </a:pPr>
            <a:r>
              <a:t>מחסן באר שבע</a:t>
            </a:r>
          </a:p>
          <a:p>
            <a:pPr algn="ctr" rtl="1">
              <a:defRPr sz="1100">
                <a:solidFill>
                  <a:srgbClr val="BCC0C6"/>
                </a:solidFill>
              </a:defRPr>
            </a:pPr>
            <a:r>
              <a:t>רק הזמנות הדרום</a:t>
            </a:r>
          </a:p>
        </p:txBody>
      </p:sp>
      <p:sp>
        <p:nvSpPr>
          <p:cNvPr id="38" name="Left Arrow 37"/>
          <p:cNvSpPr/>
          <p:nvPr/>
        </p:nvSpPr>
        <p:spPr>
          <a:xfrm>
            <a:off x="3931920" y="4860036"/>
            <a:ext cx="914400" cy="201168"/>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5815584"/>
            <a:ext cx="10911535" cy="914400"/>
          </a:xfrm>
          <a:prstGeom prst="rect">
            <a:avLst/>
          </a:prstGeom>
          <a:noFill/>
        </p:spPr>
        <p:txBody>
          <a:bodyPr wrap="square">
            <a:spAutoFit/>
          </a:bodyPr>
          <a:lstStyle/>
          <a:p>
            <a:pPr algn="r" rtl="1">
              <a:defRPr sz="1100" i="0" b="1">
                <a:solidFill>
                  <a:srgbClr val="C53030"/>
                </a:solidFill>
              </a:defRPr>
            </a:pPr>
            <a:r>
              <a:t>(2) ה-SMS נכשל שוב ושוב: ההודעה חוזרת לתור וחוסמת את מה שמאחוריה. הפתרון: DLQ – תור צדדי, והתראה.</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none">
            <a:spAutoFit/>
          </a:bodyPr>
          <a:lstStyle/>
          <a:p>
            <a:pPr algn="r" rtl="1">
              <a:defRPr sz="2800" b="1">
                <a:solidFill>
                  <a:srgbClr val="14233C"/>
                </a:solidFill>
              </a:defRPr>
            </a:pPr>
            <a:r>
              <a:t>כשל 3: חיוב שקורה פעמיים</a:t>
            </a:r>
          </a:p>
        </p:txBody>
      </p:sp>
      <p:sp>
        <p:nvSpPr>
          <p:cNvPr id="3" name="Rounded Rectangle 2"/>
          <p:cNvSpPr/>
          <p:nvPr/>
        </p:nvSpPr>
        <p:spPr>
          <a:xfrm>
            <a:off x="4846320" y="1600200"/>
            <a:ext cx="4937760" cy="4160520"/>
          </a:xfrm>
          <a:prstGeom prst="roundRect">
            <a:avLst/>
          </a:prstGeom>
          <a:noFill/>
          <a:ln w="15875">
            <a:solidFill>
              <a:srgbClr val="007AFF"/>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46320" y="5422392"/>
            <a:ext cx="4937760" cy="274320"/>
          </a:xfrm>
          <a:prstGeom prst="rect">
            <a:avLst/>
          </a:prstGeom>
          <a:noFill/>
        </p:spPr>
        <p:txBody>
          <a:bodyPr wrap="none">
            <a:spAutoFit/>
          </a:bodyPr>
          <a:lstStyle/>
          <a:p>
            <a:pPr algn="ctr" rtl="1">
              <a:defRPr sz="1100" b="1">
                <a:solidFill>
                  <a:srgbClr val="007AFF"/>
                </a:solidFill>
              </a:defRPr>
            </a:pPr>
            <a:r>
              <a:t>Message Broker – שרת אחד שמכיל את שניהם</a:t>
            </a:r>
          </a:p>
        </p:txBody>
      </p:sp>
      <p:sp>
        <p:nvSpPr>
          <p:cNvPr id="5" name="TextBox 4"/>
          <p:cNvSpPr txBox="1"/>
          <p:nvPr/>
        </p:nvSpPr>
        <p:spPr>
          <a:xfrm>
            <a:off x="10424160" y="1207008"/>
            <a:ext cx="1554480" cy="274320"/>
          </a:xfrm>
          <a:prstGeom prst="rect">
            <a:avLst/>
          </a:prstGeom>
          <a:noFill/>
        </p:spPr>
        <p:txBody>
          <a:bodyPr wrap="none">
            <a:spAutoFit/>
          </a:bodyPr>
          <a:lstStyle/>
          <a:p>
            <a:pPr algn="ctr">
              <a:defRPr sz="1200" b="1">
                <a:solidFill>
                  <a:srgbClr val="007AFF"/>
                </a:solidFill>
              </a:defRPr>
            </a:pPr>
            <a:r>
              <a:t>Producer</a:t>
            </a:r>
          </a:p>
        </p:txBody>
      </p:sp>
      <p:sp>
        <p:nvSpPr>
          <p:cNvPr id="6" name="TextBox 5"/>
          <p:cNvSpPr txBox="1"/>
          <p:nvPr/>
        </p:nvSpPr>
        <p:spPr>
          <a:xfrm>
            <a:off x="7772400" y="1207008"/>
            <a:ext cx="1828800" cy="274320"/>
          </a:xfrm>
          <a:prstGeom prst="rect">
            <a:avLst/>
          </a:prstGeom>
          <a:noFill/>
        </p:spPr>
        <p:txBody>
          <a:bodyPr wrap="none">
            <a:spAutoFit/>
          </a:bodyPr>
          <a:lstStyle/>
          <a:p>
            <a:pPr algn="ctr">
              <a:defRPr sz="1200" b="1">
                <a:solidFill>
                  <a:srgbClr val="007AFF"/>
                </a:solidFill>
              </a:defRPr>
            </a:pPr>
            <a:r>
              <a:t>Exchange</a:t>
            </a:r>
          </a:p>
        </p:txBody>
      </p:sp>
      <p:sp>
        <p:nvSpPr>
          <p:cNvPr id="7" name="TextBox 6"/>
          <p:cNvSpPr txBox="1"/>
          <p:nvPr/>
        </p:nvSpPr>
        <p:spPr>
          <a:xfrm>
            <a:off x="5029200" y="1207008"/>
            <a:ext cx="1828800" cy="274320"/>
          </a:xfrm>
          <a:prstGeom prst="rect">
            <a:avLst/>
          </a:prstGeom>
          <a:noFill/>
        </p:spPr>
        <p:txBody>
          <a:bodyPr wrap="none">
            <a:spAutoFit/>
          </a:bodyPr>
          <a:lstStyle/>
          <a:p>
            <a:pPr algn="ctr">
              <a:defRPr sz="1200" b="1">
                <a:solidFill>
                  <a:srgbClr val="007AFF"/>
                </a:solidFill>
              </a:defRPr>
            </a:pPr>
            <a:r>
              <a:t>Queue</a:t>
            </a:r>
          </a:p>
        </p:txBody>
      </p:sp>
      <p:sp>
        <p:nvSpPr>
          <p:cNvPr id="8" name="TextBox 7"/>
          <p:cNvSpPr txBox="1"/>
          <p:nvPr/>
        </p:nvSpPr>
        <p:spPr>
          <a:xfrm>
            <a:off x="1463040" y="1207008"/>
            <a:ext cx="2194560" cy="274320"/>
          </a:xfrm>
          <a:prstGeom prst="rect">
            <a:avLst/>
          </a:prstGeom>
          <a:noFill/>
        </p:spPr>
        <p:txBody>
          <a:bodyPr wrap="none">
            <a:spAutoFit/>
          </a:bodyPr>
          <a:lstStyle/>
          <a:p>
            <a:pPr algn="ctr">
              <a:defRPr sz="1200" b="1">
                <a:solidFill>
                  <a:srgbClr val="007AFF"/>
                </a:solidFill>
              </a:defRPr>
            </a:pPr>
            <a:r>
              <a:t>Consumer</a:t>
            </a:r>
          </a:p>
        </p:txBody>
      </p:sp>
      <p:sp>
        <p:nvSpPr>
          <p:cNvPr id="9" name="Rounded Rectangle 8"/>
          <p:cNvSpPr/>
          <p:nvPr/>
        </p:nvSpPr>
        <p:spPr>
          <a:xfrm>
            <a:off x="10424160" y="3063240"/>
            <a:ext cx="1554480" cy="914400"/>
          </a:xfrm>
          <a:prstGeom prst="roundRect">
            <a:avLst/>
          </a:prstGeom>
          <a:solidFill>
            <a:srgbClr val="007AFF"/>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200" b="1">
                <a:solidFill>
                  <a:srgbClr val="FFFFFF"/>
                </a:solidFill>
              </a:defRPr>
            </a:pPr>
            <a:r>
              <a:t>שירות ההזמנות</a:t>
            </a:r>
          </a:p>
          <a:p>
            <a:pPr algn="ctr" rtl="1">
              <a:defRPr sz="1000">
                <a:solidFill>
                  <a:srgbClr val="FFFFFF"/>
                </a:solidFill>
              </a:defRPr>
            </a:pPr>
            <a:r>
              <a:t>מפרסם OrderPlaced</a:t>
            </a:r>
          </a:p>
        </p:txBody>
      </p:sp>
      <p:sp>
        <p:nvSpPr>
          <p:cNvPr id="10" name="Rectangle 9"/>
          <p:cNvSpPr/>
          <p:nvPr/>
        </p:nvSpPr>
        <p:spPr>
          <a:xfrm>
            <a:off x="10012680" y="2080260"/>
            <a:ext cx="45720" cy="2880360"/>
          </a:xfrm>
          <a:prstGeom prst="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012680" y="3493008"/>
            <a:ext cx="411480" cy="54864"/>
          </a:xfrm>
          <a:prstGeom prst="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eft Arrow 11"/>
          <p:cNvSpPr/>
          <p:nvPr/>
        </p:nvSpPr>
        <p:spPr>
          <a:xfrm>
            <a:off x="9601200" y="1952243"/>
            <a:ext cx="411480" cy="256032"/>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eft Arrow 12"/>
          <p:cNvSpPr/>
          <p:nvPr/>
        </p:nvSpPr>
        <p:spPr>
          <a:xfrm>
            <a:off x="6949440" y="1952243"/>
            <a:ext cx="822960" cy="256032"/>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ft Arrow 13"/>
          <p:cNvSpPr/>
          <p:nvPr/>
        </p:nvSpPr>
        <p:spPr>
          <a:xfrm>
            <a:off x="9601200" y="3392424"/>
            <a:ext cx="411480" cy="256032"/>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Left Arrow 14"/>
          <p:cNvSpPr/>
          <p:nvPr/>
        </p:nvSpPr>
        <p:spPr>
          <a:xfrm>
            <a:off x="6949440" y="3392424"/>
            <a:ext cx="822960" cy="256032"/>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Left Arrow 15"/>
          <p:cNvSpPr/>
          <p:nvPr/>
        </p:nvSpPr>
        <p:spPr>
          <a:xfrm>
            <a:off x="9601200" y="4832604"/>
            <a:ext cx="411480" cy="256032"/>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ft Arrow 16"/>
          <p:cNvSpPr/>
          <p:nvPr/>
        </p:nvSpPr>
        <p:spPr>
          <a:xfrm>
            <a:off x="6949440" y="4832604"/>
            <a:ext cx="822960" cy="256032"/>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772400" y="1737360"/>
            <a:ext cx="1828800" cy="6858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BCC0C6"/>
                </a:solidFill>
              </a:defRPr>
            </a:pPr>
            <a:r>
              <a:t>Direct</a:t>
            </a:r>
          </a:p>
        </p:txBody>
      </p:sp>
      <p:sp>
        <p:nvSpPr>
          <p:cNvPr id="19" name="Rounded Rectangle 18"/>
          <p:cNvSpPr/>
          <p:nvPr/>
        </p:nvSpPr>
        <p:spPr>
          <a:xfrm>
            <a:off x="7772400" y="3177540"/>
            <a:ext cx="1828800" cy="6858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BCC0C6"/>
                </a:solidFill>
              </a:defRPr>
            </a:pPr>
            <a:r>
              <a:t>Fanout</a:t>
            </a:r>
          </a:p>
        </p:txBody>
      </p:sp>
      <p:sp>
        <p:nvSpPr>
          <p:cNvPr id="20" name="Rounded Rectangle 19"/>
          <p:cNvSpPr/>
          <p:nvPr/>
        </p:nvSpPr>
        <p:spPr>
          <a:xfrm>
            <a:off x="7772400" y="4617720"/>
            <a:ext cx="1828800" cy="6858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BCC0C6"/>
                </a:solidFill>
              </a:defRPr>
            </a:pPr>
            <a:r>
              <a:t>Topic</a:t>
            </a:r>
          </a:p>
        </p:txBody>
      </p:sp>
      <p:sp>
        <p:nvSpPr>
          <p:cNvPr id="21" name="TextBox 20"/>
          <p:cNvSpPr txBox="1"/>
          <p:nvPr/>
        </p:nvSpPr>
        <p:spPr>
          <a:xfrm>
            <a:off x="6876288" y="1604772"/>
            <a:ext cx="877824" cy="256032"/>
          </a:xfrm>
          <a:prstGeom prst="rect">
            <a:avLst/>
          </a:prstGeom>
          <a:noFill/>
        </p:spPr>
        <p:txBody>
          <a:bodyPr wrap="none">
            <a:spAutoFit/>
          </a:bodyPr>
          <a:lstStyle/>
          <a:p>
            <a:pPr algn="ctr">
              <a:defRPr sz="900">
                <a:solidFill>
                  <a:srgbClr val="BCC0C6"/>
                </a:solidFill>
              </a:defRPr>
            </a:pPr>
            <a:r>
              <a:t>orders.charge</a:t>
            </a:r>
          </a:p>
        </p:txBody>
      </p:sp>
      <p:sp>
        <p:nvSpPr>
          <p:cNvPr id="22" name="TextBox 21"/>
          <p:cNvSpPr txBox="1"/>
          <p:nvPr/>
        </p:nvSpPr>
        <p:spPr>
          <a:xfrm>
            <a:off x="6876288" y="3044952"/>
            <a:ext cx="877824" cy="256032"/>
          </a:xfrm>
          <a:prstGeom prst="rect">
            <a:avLst/>
          </a:prstGeom>
          <a:noFill/>
        </p:spPr>
        <p:txBody>
          <a:bodyPr wrap="none">
            <a:spAutoFit/>
          </a:bodyPr>
          <a:lstStyle/>
          <a:p>
            <a:pPr algn="ctr" rtl="1">
              <a:defRPr sz="900">
                <a:solidFill>
                  <a:srgbClr val="BCC0C6"/>
                </a:solidFill>
              </a:defRPr>
            </a:pPr>
            <a:r>
              <a:t>ללא מפתח</a:t>
            </a:r>
          </a:p>
        </p:txBody>
      </p:sp>
      <p:sp>
        <p:nvSpPr>
          <p:cNvPr id="23" name="TextBox 22"/>
          <p:cNvSpPr txBox="1"/>
          <p:nvPr/>
        </p:nvSpPr>
        <p:spPr>
          <a:xfrm>
            <a:off x="6876288" y="4485131"/>
            <a:ext cx="877824" cy="256032"/>
          </a:xfrm>
          <a:prstGeom prst="rect">
            <a:avLst/>
          </a:prstGeom>
          <a:noFill/>
        </p:spPr>
        <p:txBody>
          <a:bodyPr wrap="none">
            <a:spAutoFit/>
          </a:bodyPr>
          <a:lstStyle/>
          <a:p>
            <a:pPr algn="ctr">
              <a:defRPr sz="900">
                <a:solidFill>
                  <a:srgbClr val="BCC0C6"/>
                </a:solidFill>
              </a:defRPr>
            </a:pPr>
            <a:r>
              <a:t>order.il.south.#</a:t>
            </a:r>
          </a:p>
        </p:txBody>
      </p:sp>
      <p:sp>
        <p:nvSpPr>
          <p:cNvPr id="24" name="Rounded Rectangle 23"/>
          <p:cNvSpPr/>
          <p:nvPr/>
        </p:nvSpPr>
        <p:spPr>
          <a:xfrm>
            <a:off x="5029200" y="1737360"/>
            <a:ext cx="1828800" cy="6858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BCC0C6"/>
                </a:solidFill>
              </a:defRPr>
            </a:pPr>
            <a:r>
              <a:t>charge-queue</a:t>
            </a:r>
          </a:p>
        </p:txBody>
      </p:sp>
      <p:sp>
        <p:nvSpPr>
          <p:cNvPr id="25" name="Rounded Rectangle 24"/>
          <p:cNvSpPr/>
          <p:nvPr/>
        </p:nvSpPr>
        <p:spPr>
          <a:xfrm>
            <a:off x="1463040" y="1737360"/>
            <a:ext cx="2194560" cy="685800"/>
          </a:xfrm>
          <a:prstGeom prst="roundRect">
            <a:avLst/>
          </a:prstGeom>
          <a:solidFill>
            <a:srgbClr val="FDEAEA"/>
          </a:solidFill>
          <a:ln w="12700">
            <a:solidFill>
              <a:srgbClr val="C5303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300" b="1">
                <a:solidFill>
                  <a:srgbClr val="C53030"/>
                </a:solidFill>
              </a:defRPr>
            </a:pPr>
            <a:r>
              <a:t>עשרה Workers  (3)</a:t>
            </a:r>
          </a:p>
          <a:p>
            <a:pPr algn="ctr" rtl="1">
              <a:defRPr sz="1100">
                <a:solidFill>
                  <a:srgbClr val="C53030"/>
                </a:solidFill>
              </a:defRPr>
            </a:pPr>
            <a:r>
              <a:t>חיוב הכרטיס</a:t>
            </a:r>
          </a:p>
        </p:txBody>
      </p:sp>
      <p:sp>
        <p:nvSpPr>
          <p:cNvPr id="26" name="Left Arrow 25"/>
          <p:cNvSpPr/>
          <p:nvPr/>
        </p:nvSpPr>
        <p:spPr>
          <a:xfrm>
            <a:off x="3931920" y="1979676"/>
            <a:ext cx="914400" cy="201168"/>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029200" y="2743200"/>
            <a:ext cx="1828800" cy="4572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a:solidFill>
                  <a:srgbClr val="BCC0C6"/>
                </a:solidFill>
              </a:defRPr>
            </a:pPr>
            <a:r>
              <a:t>warehouse</a:t>
            </a:r>
          </a:p>
        </p:txBody>
      </p:sp>
      <p:sp>
        <p:nvSpPr>
          <p:cNvPr id="28" name="Rounded Rectangle 27"/>
          <p:cNvSpPr/>
          <p:nvPr/>
        </p:nvSpPr>
        <p:spPr>
          <a:xfrm>
            <a:off x="1463040" y="2743200"/>
            <a:ext cx="2194560" cy="4572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100" b="1">
                <a:solidFill>
                  <a:srgbClr val="BCC0C6"/>
                </a:solidFill>
              </a:defRPr>
            </a:pPr>
            <a:r>
              <a:t>מחסן</a:t>
            </a:r>
          </a:p>
        </p:txBody>
      </p:sp>
      <p:sp>
        <p:nvSpPr>
          <p:cNvPr id="29" name="Left Arrow 28"/>
          <p:cNvSpPr/>
          <p:nvPr/>
        </p:nvSpPr>
        <p:spPr>
          <a:xfrm>
            <a:off x="3931920" y="2871216"/>
            <a:ext cx="914400" cy="201168"/>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029200" y="3291840"/>
            <a:ext cx="1828800" cy="4572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a:solidFill>
                  <a:srgbClr val="BCC0C6"/>
                </a:solidFill>
              </a:defRPr>
            </a:pPr>
            <a:r>
              <a:t>analytics  (1)</a:t>
            </a:r>
          </a:p>
        </p:txBody>
      </p:sp>
      <p:sp>
        <p:nvSpPr>
          <p:cNvPr id="31" name="Rounded Rectangle 30"/>
          <p:cNvSpPr/>
          <p:nvPr/>
        </p:nvSpPr>
        <p:spPr>
          <a:xfrm>
            <a:off x="1463040" y="3291840"/>
            <a:ext cx="2194560" cy="4572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100" b="1">
                <a:solidFill>
                  <a:srgbClr val="BCC0C6"/>
                </a:solidFill>
              </a:defRPr>
            </a:pPr>
            <a:r>
              <a:t>אנליטיקה</a:t>
            </a:r>
          </a:p>
        </p:txBody>
      </p:sp>
      <p:sp>
        <p:nvSpPr>
          <p:cNvPr id="32" name="Left Arrow 31"/>
          <p:cNvSpPr/>
          <p:nvPr/>
        </p:nvSpPr>
        <p:spPr>
          <a:xfrm>
            <a:off x="3931920" y="3419856"/>
            <a:ext cx="914400" cy="201168"/>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5029200" y="3840480"/>
            <a:ext cx="1828800" cy="4572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a:solidFill>
                  <a:srgbClr val="BCC0C6"/>
                </a:solidFill>
              </a:defRPr>
            </a:pPr>
            <a:r>
              <a:t>sms  (2)</a:t>
            </a:r>
          </a:p>
        </p:txBody>
      </p:sp>
      <p:sp>
        <p:nvSpPr>
          <p:cNvPr id="34" name="Rounded Rectangle 33"/>
          <p:cNvSpPr/>
          <p:nvPr/>
        </p:nvSpPr>
        <p:spPr>
          <a:xfrm>
            <a:off x="1463040" y="3840480"/>
            <a:ext cx="2194560" cy="4572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100" b="1">
                <a:solidFill>
                  <a:srgbClr val="BCC0C6"/>
                </a:solidFill>
              </a:defRPr>
            </a:pPr>
            <a:r>
              <a:t>SMS ללקוח</a:t>
            </a:r>
          </a:p>
        </p:txBody>
      </p:sp>
      <p:sp>
        <p:nvSpPr>
          <p:cNvPr id="35" name="Left Arrow 34"/>
          <p:cNvSpPr/>
          <p:nvPr/>
        </p:nvSpPr>
        <p:spPr>
          <a:xfrm>
            <a:off x="3931920" y="3968496"/>
            <a:ext cx="914400" cy="201168"/>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029200" y="4617720"/>
            <a:ext cx="1828800" cy="6858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BCC0C6"/>
                </a:solidFill>
              </a:defRPr>
            </a:pPr>
            <a:r>
              <a:t>south-queue</a:t>
            </a:r>
          </a:p>
        </p:txBody>
      </p:sp>
      <p:sp>
        <p:nvSpPr>
          <p:cNvPr id="37" name="Rounded Rectangle 36"/>
          <p:cNvSpPr/>
          <p:nvPr/>
        </p:nvSpPr>
        <p:spPr>
          <a:xfrm>
            <a:off x="1463040" y="4617720"/>
            <a:ext cx="2194560" cy="685800"/>
          </a:xfrm>
          <a:prstGeom prst="roundRect">
            <a:avLst/>
          </a:prstGeom>
          <a:solidFill>
            <a:srgbClr val="F7F8F9"/>
          </a:solidFill>
          <a:ln w="12700">
            <a:solidFill>
              <a:srgbClr val="D8DCE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300" b="1">
                <a:solidFill>
                  <a:srgbClr val="BCC0C6"/>
                </a:solidFill>
              </a:defRPr>
            </a:pPr>
            <a:r>
              <a:t>מחסן באר שבע</a:t>
            </a:r>
          </a:p>
          <a:p>
            <a:pPr algn="ctr" rtl="1">
              <a:defRPr sz="1100">
                <a:solidFill>
                  <a:srgbClr val="BCC0C6"/>
                </a:solidFill>
              </a:defRPr>
            </a:pPr>
            <a:r>
              <a:t>רק הזמנות הדרום</a:t>
            </a:r>
          </a:p>
        </p:txBody>
      </p:sp>
      <p:sp>
        <p:nvSpPr>
          <p:cNvPr id="38" name="Left Arrow 37"/>
          <p:cNvSpPr/>
          <p:nvPr/>
        </p:nvSpPr>
        <p:spPr>
          <a:xfrm>
            <a:off x="3931920" y="4860036"/>
            <a:ext cx="914400" cy="201168"/>
          </a:xfrm>
          <a:prstGeom prst="leftArrow">
            <a:avLst/>
          </a:prstGeom>
          <a:solidFill>
            <a:srgbClr val="D8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5815584"/>
            <a:ext cx="10911535" cy="914400"/>
          </a:xfrm>
          <a:prstGeom prst="rect">
            <a:avLst/>
          </a:prstGeom>
          <a:noFill/>
        </p:spPr>
        <p:txBody>
          <a:bodyPr wrap="square">
            <a:spAutoFit/>
          </a:bodyPr>
          <a:lstStyle/>
          <a:p>
            <a:pPr algn="r" rtl="1">
              <a:defRPr sz="1100" i="0" b="1">
                <a:solidFill>
                  <a:srgbClr val="C53030"/>
                </a:solidFill>
              </a:defRPr>
            </a:pPr>
            <a:r>
              <a:t>(3) ה-Worker חייב את הכרטיס ומת לפני ה-ack: הברוקר ישלח שוב, והלקוח יחויב פעמיים. זו ברירת המחדל at-least-once – ולכן כל צרכן חייב להיות אידמפוטנטי.</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none">
            <a:spAutoFit/>
          </a:bodyPr>
          <a:lstStyle/>
          <a:p>
            <a:pPr algn="r" rtl="1">
              <a:defRPr sz="2800" b="1">
                <a:solidFill>
                  <a:srgbClr val="14233C"/>
                </a:solidFill>
              </a:defRPr>
            </a:pPr>
            <a:r>
              <a:t>אותה הזמנה, 14:05: שלוש נקודות כשל</a:t>
            </a:r>
          </a:p>
        </p:txBody>
      </p:sp>
      <p:sp>
        <p:nvSpPr>
          <p:cNvPr id="3" name="Rounded Rectangle 2"/>
          <p:cNvSpPr/>
          <p:nvPr/>
        </p:nvSpPr>
        <p:spPr>
          <a:xfrm>
            <a:off x="4846320" y="1600200"/>
            <a:ext cx="4937760" cy="4160520"/>
          </a:xfrm>
          <a:prstGeom prst="roundRect">
            <a:avLst/>
          </a:prstGeom>
          <a:noFill/>
          <a:ln w="15875">
            <a:solidFill>
              <a:srgbClr val="007AFF"/>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46320" y="5422392"/>
            <a:ext cx="4937760" cy="274320"/>
          </a:xfrm>
          <a:prstGeom prst="rect">
            <a:avLst/>
          </a:prstGeom>
          <a:noFill/>
        </p:spPr>
        <p:txBody>
          <a:bodyPr wrap="none">
            <a:spAutoFit/>
          </a:bodyPr>
          <a:lstStyle/>
          <a:p>
            <a:pPr algn="ctr" rtl="1">
              <a:defRPr sz="1100" b="1">
                <a:solidFill>
                  <a:srgbClr val="007AFF"/>
                </a:solidFill>
              </a:defRPr>
            </a:pPr>
            <a:r>
              <a:t>Message Broker – שרת אחד שמכיל את שניהם</a:t>
            </a:r>
          </a:p>
        </p:txBody>
      </p:sp>
      <p:sp>
        <p:nvSpPr>
          <p:cNvPr id="5" name="TextBox 4"/>
          <p:cNvSpPr txBox="1"/>
          <p:nvPr/>
        </p:nvSpPr>
        <p:spPr>
          <a:xfrm>
            <a:off x="10424160" y="1207008"/>
            <a:ext cx="1554480" cy="274320"/>
          </a:xfrm>
          <a:prstGeom prst="rect">
            <a:avLst/>
          </a:prstGeom>
          <a:noFill/>
        </p:spPr>
        <p:txBody>
          <a:bodyPr wrap="none">
            <a:spAutoFit/>
          </a:bodyPr>
          <a:lstStyle/>
          <a:p>
            <a:pPr algn="ctr">
              <a:defRPr sz="1200" b="1">
                <a:solidFill>
                  <a:srgbClr val="007AFF"/>
                </a:solidFill>
              </a:defRPr>
            </a:pPr>
            <a:r>
              <a:t>Producer</a:t>
            </a:r>
          </a:p>
        </p:txBody>
      </p:sp>
      <p:sp>
        <p:nvSpPr>
          <p:cNvPr id="6" name="TextBox 5"/>
          <p:cNvSpPr txBox="1"/>
          <p:nvPr/>
        </p:nvSpPr>
        <p:spPr>
          <a:xfrm>
            <a:off x="7772400" y="1207008"/>
            <a:ext cx="1828800" cy="274320"/>
          </a:xfrm>
          <a:prstGeom prst="rect">
            <a:avLst/>
          </a:prstGeom>
          <a:noFill/>
        </p:spPr>
        <p:txBody>
          <a:bodyPr wrap="none">
            <a:spAutoFit/>
          </a:bodyPr>
          <a:lstStyle/>
          <a:p>
            <a:pPr algn="ctr">
              <a:defRPr sz="1200" b="1">
                <a:solidFill>
                  <a:srgbClr val="007AFF"/>
                </a:solidFill>
              </a:defRPr>
            </a:pPr>
            <a:r>
              <a:t>Exchange</a:t>
            </a:r>
          </a:p>
        </p:txBody>
      </p:sp>
      <p:sp>
        <p:nvSpPr>
          <p:cNvPr id="7" name="TextBox 6"/>
          <p:cNvSpPr txBox="1"/>
          <p:nvPr/>
        </p:nvSpPr>
        <p:spPr>
          <a:xfrm>
            <a:off x="5029200" y="1207008"/>
            <a:ext cx="1828800" cy="274320"/>
          </a:xfrm>
          <a:prstGeom prst="rect">
            <a:avLst/>
          </a:prstGeom>
          <a:noFill/>
        </p:spPr>
        <p:txBody>
          <a:bodyPr wrap="none">
            <a:spAutoFit/>
          </a:bodyPr>
          <a:lstStyle/>
          <a:p>
            <a:pPr algn="ctr">
              <a:defRPr sz="1200" b="1">
                <a:solidFill>
                  <a:srgbClr val="007AFF"/>
                </a:solidFill>
              </a:defRPr>
            </a:pPr>
            <a:r>
              <a:t>Queue</a:t>
            </a:r>
          </a:p>
        </p:txBody>
      </p:sp>
      <p:sp>
        <p:nvSpPr>
          <p:cNvPr id="8" name="TextBox 7"/>
          <p:cNvSpPr txBox="1"/>
          <p:nvPr/>
        </p:nvSpPr>
        <p:spPr>
          <a:xfrm>
            <a:off x="1463040" y="1207008"/>
            <a:ext cx="2194560" cy="274320"/>
          </a:xfrm>
          <a:prstGeom prst="rect">
            <a:avLst/>
          </a:prstGeom>
          <a:noFill/>
        </p:spPr>
        <p:txBody>
          <a:bodyPr wrap="none">
            <a:spAutoFit/>
          </a:bodyPr>
          <a:lstStyle/>
          <a:p>
            <a:pPr algn="ctr">
              <a:defRPr sz="1200" b="1">
                <a:solidFill>
                  <a:srgbClr val="007AFF"/>
                </a:solidFill>
              </a:defRPr>
            </a:pPr>
            <a:r>
              <a:t>Consumer</a:t>
            </a:r>
          </a:p>
        </p:txBody>
      </p:sp>
      <p:sp>
        <p:nvSpPr>
          <p:cNvPr id="9" name="Rounded Rectangle 8"/>
          <p:cNvSpPr/>
          <p:nvPr/>
        </p:nvSpPr>
        <p:spPr>
          <a:xfrm>
            <a:off x="10424160" y="3063240"/>
            <a:ext cx="1554480" cy="914400"/>
          </a:xfrm>
          <a:prstGeom prst="roundRect">
            <a:avLst/>
          </a:prstGeom>
          <a:solidFill>
            <a:srgbClr val="007AFF"/>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200" b="1">
                <a:solidFill>
                  <a:srgbClr val="FFFFFF"/>
                </a:solidFill>
              </a:defRPr>
            </a:pPr>
            <a:r>
              <a:t>שירות ההזמנות</a:t>
            </a:r>
          </a:p>
          <a:p>
            <a:pPr algn="ctr" rtl="1">
              <a:defRPr sz="1000">
                <a:solidFill>
                  <a:srgbClr val="FFFFFF"/>
                </a:solidFill>
              </a:defRPr>
            </a:pPr>
            <a:r>
              <a:t>מפרסם OrderPlaced</a:t>
            </a:r>
          </a:p>
        </p:txBody>
      </p:sp>
      <p:sp>
        <p:nvSpPr>
          <p:cNvPr id="10" name="Rectangle 9"/>
          <p:cNvSpPr/>
          <p:nvPr/>
        </p:nvSpPr>
        <p:spPr>
          <a:xfrm>
            <a:off x="10012680" y="2080260"/>
            <a:ext cx="45720" cy="2880360"/>
          </a:xfrm>
          <a:prstGeom prst="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012680" y="3493008"/>
            <a:ext cx="411480" cy="54864"/>
          </a:xfrm>
          <a:prstGeom prst="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eft Arrow 11"/>
          <p:cNvSpPr/>
          <p:nvPr/>
        </p:nvSpPr>
        <p:spPr>
          <a:xfrm>
            <a:off x="9601200" y="1952243"/>
            <a:ext cx="411480" cy="256032"/>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eft Arrow 12"/>
          <p:cNvSpPr/>
          <p:nvPr/>
        </p:nvSpPr>
        <p:spPr>
          <a:xfrm>
            <a:off x="6949440" y="1952243"/>
            <a:ext cx="822960" cy="256032"/>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ft Arrow 13"/>
          <p:cNvSpPr/>
          <p:nvPr/>
        </p:nvSpPr>
        <p:spPr>
          <a:xfrm>
            <a:off x="9601200" y="3392424"/>
            <a:ext cx="411480" cy="256032"/>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Left Arrow 14"/>
          <p:cNvSpPr/>
          <p:nvPr/>
        </p:nvSpPr>
        <p:spPr>
          <a:xfrm>
            <a:off x="6949440" y="3392424"/>
            <a:ext cx="822960" cy="256032"/>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Left Arrow 15"/>
          <p:cNvSpPr/>
          <p:nvPr/>
        </p:nvSpPr>
        <p:spPr>
          <a:xfrm>
            <a:off x="9601200" y="4832604"/>
            <a:ext cx="411480" cy="256032"/>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ft Arrow 16"/>
          <p:cNvSpPr/>
          <p:nvPr/>
        </p:nvSpPr>
        <p:spPr>
          <a:xfrm>
            <a:off x="6949440" y="4832604"/>
            <a:ext cx="822960" cy="256032"/>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772400" y="1737360"/>
            <a:ext cx="1828800" cy="685800"/>
          </a:xfrm>
          <a:prstGeom prst="roundRect">
            <a:avLst/>
          </a:prstGeom>
          <a:solidFill>
            <a:srgbClr val="14233C"/>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FFFFFF"/>
                </a:solidFill>
              </a:defRPr>
            </a:pPr>
            <a:r>
              <a:t>Direct</a:t>
            </a:r>
          </a:p>
        </p:txBody>
      </p:sp>
      <p:sp>
        <p:nvSpPr>
          <p:cNvPr id="19" name="Rounded Rectangle 18"/>
          <p:cNvSpPr/>
          <p:nvPr/>
        </p:nvSpPr>
        <p:spPr>
          <a:xfrm>
            <a:off x="7772400" y="3177540"/>
            <a:ext cx="1828800" cy="685800"/>
          </a:xfrm>
          <a:prstGeom prst="roundRect">
            <a:avLst/>
          </a:prstGeom>
          <a:solidFill>
            <a:srgbClr val="14233C"/>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FFFFFF"/>
                </a:solidFill>
              </a:defRPr>
            </a:pPr>
            <a:r>
              <a:t>Fanout</a:t>
            </a:r>
          </a:p>
        </p:txBody>
      </p:sp>
      <p:sp>
        <p:nvSpPr>
          <p:cNvPr id="20" name="Rounded Rectangle 19"/>
          <p:cNvSpPr/>
          <p:nvPr/>
        </p:nvSpPr>
        <p:spPr>
          <a:xfrm>
            <a:off x="7772400" y="4617720"/>
            <a:ext cx="1828800" cy="685800"/>
          </a:xfrm>
          <a:prstGeom prst="roundRect">
            <a:avLst/>
          </a:prstGeom>
          <a:solidFill>
            <a:srgbClr val="14233C"/>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FFFFFF"/>
                </a:solidFill>
              </a:defRPr>
            </a:pPr>
            <a:r>
              <a:t>Topic</a:t>
            </a:r>
          </a:p>
        </p:txBody>
      </p:sp>
      <p:sp>
        <p:nvSpPr>
          <p:cNvPr id="21" name="TextBox 20"/>
          <p:cNvSpPr txBox="1"/>
          <p:nvPr/>
        </p:nvSpPr>
        <p:spPr>
          <a:xfrm>
            <a:off x="6876288" y="1604772"/>
            <a:ext cx="877824" cy="256032"/>
          </a:xfrm>
          <a:prstGeom prst="rect">
            <a:avLst/>
          </a:prstGeom>
          <a:noFill/>
        </p:spPr>
        <p:txBody>
          <a:bodyPr wrap="none">
            <a:spAutoFit/>
          </a:bodyPr>
          <a:lstStyle/>
          <a:p>
            <a:pPr algn="ctr">
              <a:defRPr sz="900">
                <a:solidFill>
                  <a:srgbClr val="282828"/>
                </a:solidFill>
              </a:defRPr>
            </a:pPr>
            <a:r>
              <a:t>orders.charge</a:t>
            </a:r>
          </a:p>
        </p:txBody>
      </p:sp>
      <p:sp>
        <p:nvSpPr>
          <p:cNvPr id="22" name="TextBox 21"/>
          <p:cNvSpPr txBox="1"/>
          <p:nvPr/>
        </p:nvSpPr>
        <p:spPr>
          <a:xfrm>
            <a:off x="6876288" y="3044952"/>
            <a:ext cx="877824" cy="256032"/>
          </a:xfrm>
          <a:prstGeom prst="rect">
            <a:avLst/>
          </a:prstGeom>
          <a:noFill/>
        </p:spPr>
        <p:txBody>
          <a:bodyPr wrap="none">
            <a:spAutoFit/>
          </a:bodyPr>
          <a:lstStyle/>
          <a:p>
            <a:pPr algn="ctr" rtl="1">
              <a:defRPr sz="900">
                <a:solidFill>
                  <a:srgbClr val="282828"/>
                </a:solidFill>
              </a:defRPr>
            </a:pPr>
            <a:r>
              <a:t>ללא מפתח</a:t>
            </a:r>
          </a:p>
        </p:txBody>
      </p:sp>
      <p:sp>
        <p:nvSpPr>
          <p:cNvPr id="23" name="TextBox 22"/>
          <p:cNvSpPr txBox="1"/>
          <p:nvPr/>
        </p:nvSpPr>
        <p:spPr>
          <a:xfrm>
            <a:off x="6876288" y="4485131"/>
            <a:ext cx="877824" cy="256032"/>
          </a:xfrm>
          <a:prstGeom prst="rect">
            <a:avLst/>
          </a:prstGeom>
          <a:noFill/>
        </p:spPr>
        <p:txBody>
          <a:bodyPr wrap="none">
            <a:spAutoFit/>
          </a:bodyPr>
          <a:lstStyle/>
          <a:p>
            <a:pPr algn="ctr">
              <a:defRPr sz="900">
                <a:solidFill>
                  <a:srgbClr val="282828"/>
                </a:solidFill>
              </a:defRPr>
            </a:pPr>
            <a:r>
              <a:t>order.il.south.#</a:t>
            </a:r>
          </a:p>
        </p:txBody>
      </p:sp>
      <p:sp>
        <p:nvSpPr>
          <p:cNvPr id="24" name="Rounded Rectangle 23"/>
          <p:cNvSpPr/>
          <p:nvPr/>
        </p:nvSpPr>
        <p:spPr>
          <a:xfrm>
            <a:off x="5029200" y="1737360"/>
            <a:ext cx="1828800" cy="685800"/>
          </a:xfrm>
          <a:prstGeom prst="roundRect">
            <a:avLst/>
          </a:prstGeom>
          <a:solidFill>
            <a:srgbClr val="EEF1F5"/>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14233C"/>
                </a:solidFill>
              </a:defRPr>
            </a:pPr>
            <a:r>
              <a:t>charge-queue</a:t>
            </a:r>
          </a:p>
        </p:txBody>
      </p:sp>
      <p:sp>
        <p:nvSpPr>
          <p:cNvPr id="25" name="Rounded Rectangle 24"/>
          <p:cNvSpPr/>
          <p:nvPr/>
        </p:nvSpPr>
        <p:spPr>
          <a:xfrm>
            <a:off x="1463040" y="1737360"/>
            <a:ext cx="2194560" cy="685800"/>
          </a:xfrm>
          <a:prstGeom prst="roundRect">
            <a:avLst/>
          </a:prstGeom>
          <a:solidFill>
            <a:srgbClr val="FDEAEA"/>
          </a:solidFill>
          <a:ln w="12700">
            <a:solidFill>
              <a:srgbClr val="C5303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300" b="1">
                <a:solidFill>
                  <a:srgbClr val="C53030"/>
                </a:solidFill>
              </a:defRPr>
            </a:pPr>
            <a:r>
              <a:t>עשרה Workers  (3)</a:t>
            </a:r>
          </a:p>
          <a:p>
            <a:pPr algn="ctr" rtl="1">
              <a:defRPr sz="1100">
                <a:solidFill>
                  <a:srgbClr val="C53030"/>
                </a:solidFill>
              </a:defRPr>
            </a:pPr>
            <a:r>
              <a:t>חיוב הכרטיס</a:t>
            </a:r>
          </a:p>
        </p:txBody>
      </p:sp>
      <p:sp>
        <p:nvSpPr>
          <p:cNvPr id="26" name="Left Arrow 25"/>
          <p:cNvSpPr/>
          <p:nvPr/>
        </p:nvSpPr>
        <p:spPr>
          <a:xfrm>
            <a:off x="3931920" y="1979676"/>
            <a:ext cx="914400" cy="201168"/>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029200" y="2743200"/>
            <a:ext cx="1828800" cy="457200"/>
          </a:xfrm>
          <a:prstGeom prst="roundRect">
            <a:avLst/>
          </a:prstGeom>
          <a:solidFill>
            <a:srgbClr val="EEF1F5"/>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a:solidFill>
                  <a:srgbClr val="14233C"/>
                </a:solidFill>
              </a:defRPr>
            </a:pPr>
            <a:r>
              <a:t>warehouse</a:t>
            </a:r>
          </a:p>
        </p:txBody>
      </p:sp>
      <p:sp>
        <p:nvSpPr>
          <p:cNvPr id="28" name="Rounded Rectangle 27"/>
          <p:cNvSpPr/>
          <p:nvPr/>
        </p:nvSpPr>
        <p:spPr>
          <a:xfrm>
            <a:off x="1463040" y="2743200"/>
            <a:ext cx="2194560" cy="457200"/>
          </a:xfrm>
          <a:prstGeom prst="roundRect">
            <a:avLst/>
          </a:prstGeom>
          <a:solidFill>
            <a:srgbClr val="EEF1F5"/>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100" b="1">
                <a:solidFill>
                  <a:srgbClr val="14233C"/>
                </a:solidFill>
              </a:defRPr>
            </a:pPr>
            <a:r>
              <a:t>מחסן</a:t>
            </a:r>
          </a:p>
        </p:txBody>
      </p:sp>
      <p:sp>
        <p:nvSpPr>
          <p:cNvPr id="29" name="Left Arrow 28"/>
          <p:cNvSpPr/>
          <p:nvPr/>
        </p:nvSpPr>
        <p:spPr>
          <a:xfrm>
            <a:off x="3931920" y="2871216"/>
            <a:ext cx="914400" cy="201168"/>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029200" y="3291840"/>
            <a:ext cx="1828800" cy="457200"/>
          </a:xfrm>
          <a:prstGeom prst="roundRect">
            <a:avLst/>
          </a:prstGeom>
          <a:solidFill>
            <a:srgbClr val="FDEAEA"/>
          </a:solidFill>
          <a:ln w="12700">
            <a:solidFill>
              <a:srgbClr val="C5303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a:solidFill>
                  <a:srgbClr val="C53030"/>
                </a:solidFill>
              </a:defRPr>
            </a:pPr>
            <a:r>
              <a:t>analytics  (1)</a:t>
            </a:r>
          </a:p>
        </p:txBody>
      </p:sp>
      <p:sp>
        <p:nvSpPr>
          <p:cNvPr id="31" name="Rounded Rectangle 30"/>
          <p:cNvSpPr/>
          <p:nvPr/>
        </p:nvSpPr>
        <p:spPr>
          <a:xfrm>
            <a:off x="1463040" y="3291840"/>
            <a:ext cx="2194560" cy="457200"/>
          </a:xfrm>
          <a:prstGeom prst="roundRect">
            <a:avLst/>
          </a:prstGeom>
          <a:solidFill>
            <a:srgbClr val="FDEAEA"/>
          </a:solidFill>
          <a:ln w="12700">
            <a:solidFill>
              <a:srgbClr val="C5303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100" b="1">
                <a:solidFill>
                  <a:srgbClr val="C53030"/>
                </a:solidFill>
              </a:defRPr>
            </a:pPr>
            <a:r>
              <a:t>אנליטיקה</a:t>
            </a:r>
          </a:p>
        </p:txBody>
      </p:sp>
      <p:sp>
        <p:nvSpPr>
          <p:cNvPr id="32" name="Left Arrow 31"/>
          <p:cNvSpPr/>
          <p:nvPr/>
        </p:nvSpPr>
        <p:spPr>
          <a:xfrm>
            <a:off x="3931920" y="3419856"/>
            <a:ext cx="914400" cy="201168"/>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5029200" y="3840480"/>
            <a:ext cx="1828800" cy="457200"/>
          </a:xfrm>
          <a:prstGeom prst="roundRect">
            <a:avLst/>
          </a:prstGeom>
          <a:solidFill>
            <a:srgbClr val="FDEAEA"/>
          </a:solidFill>
          <a:ln w="12700">
            <a:solidFill>
              <a:srgbClr val="C5303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a:solidFill>
                  <a:srgbClr val="C53030"/>
                </a:solidFill>
              </a:defRPr>
            </a:pPr>
            <a:r>
              <a:t>sms  (2)</a:t>
            </a:r>
          </a:p>
        </p:txBody>
      </p:sp>
      <p:sp>
        <p:nvSpPr>
          <p:cNvPr id="34" name="Rounded Rectangle 33"/>
          <p:cNvSpPr/>
          <p:nvPr/>
        </p:nvSpPr>
        <p:spPr>
          <a:xfrm>
            <a:off x="1463040" y="3840480"/>
            <a:ext cx="2194560" cy="457200"/>
          </a:xfrm>
          <a:prstGeom prst="roundRect">
            <a:avLst/>
          </a:prstGeom>
          <a:solidFill>
            <a:srgbClr val="FDEAEA"/>
          </a:solidFill>
          <a:ln w="12700">
            <a:solidFill>
              <a:srgbClr val="C53030"/>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100" b="1">
                <a:solidFill>
                  <a:srgbClr val="C53030"/>
                </a:solidFill>
              </a:defRPr>
            </a:pPr>
            <a:r>
              <a:t>SMS ללקוח</a:t>
            </a:r>
          </a:p>
        </p:txBody>
      </p:sp>
      <p:sp>
        <p:nvSpPr>
          <p:cNvPr id="35" name="Left Arrow 34"/>
          <p:cNvSpPr/>
          <p:nvPr/>
        </p:nvSpPr>
        <p:spPr>
          <a:xfrm>
            <a:off x="3931920" y="3968496"/>
            <a:ext cx="914400" cy="201168"/>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029200" y="4617720"/>
            <a:ext cx="1828800" cy="685800"/>
          </a:xfrm>
          <a:prstGeom prst="roundRect">
            <a:avLst/>
          </a:prstGeom>
          <a:solidFill>
            <a:srgbClr val="EEF1F5"/>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300" b="1">
                <a:solidFill>
                  <a:srgbClr val="14233C"/>
                </a:solidFill>
              </a:defRPr>
            </a:pPr>
            <a:r>
              <a:t>south-queue</a:t>
            </a:r>
          </a:p>
        </p:txBody>
      </p:sp>
      <p:sp>
        <p:nvSpPr>
          <p:cNvPr id="37" name="Rounded Rectangle 36"/>
          <p:cNvSpPr/>
          <p:nvPr/>
        </p:nvSpPr>
        <p:spPr>
          <a:xfrm>
            <a:off x="1463040" y="4617720"/>
            <a:ext cx="2194560" cy="685800"/>
          </a:xfrm>
          <a:prstGeom prst="roundRect">
            <a:avLst/>
          </a:prstGeom>
          <a:solidFill>
            <a:srgbClr val="EEF1F5"/>
          </a:solidFill>
          <a:ln w="12700">
            <a:solidFill>
              <a:srgbClr val="14233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rtl="1">
              <a:defRPr sz="1300" b="1">
                <a:solidFill>
                  <a:srgbClr val="14233C"/>
                </a:solidFill>
              </a:defRPr>
            </a:pPr>
            <a:r>
              <a:t>מחסן באר שבע</a:t>
            </a:r>
          </a:p>
          <a:p>
            <a:pPr algn="ctr" rtl="1">
              <a:defRPr sz="1100">
                <a:solidFill>
                  <a:srgbClr val="14233C"/>
                </a:solidFill>
              </a:defRPr>
            </a:pPr>
            <a:r>
              <a:t>רק הזמנות הדרום</a:t>
            </a:r>
          </a:p>
        </p:txBody>
      </p:sp>
      <p:sp>
        <p:nvSpPr>
          <p:cNvPr id="38" name="Left Arrow 37"/>
          <p:cNvSpPr/>
          <p:nvPr/>
        </p:nvSpPr>
        <p:spPr>
          <a:xfrm>
            <a:off x="3931920" y="4860036"/>
            <a:ext cx="914400" cy="201168"/>
          </a:xfrm>
          <a:prstGeom prst="leftArrow">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5815584"/>
            <a:ext cx="10911535" cy="914400"/>
          </a:xfrm>
          <a:prstGeom prst="rect">
            <a:avLst/>
          </a:prstGeom>
          <a:noFill/>
        </p:spPr>
        <p:txBody>
          <a:bodyPr wrap="square">
            <a:spAutoFit/>
          </a:bodyPr>
          <a:lstStyle/>
          <a:p>
            <a:pPr algn="r" rtl="1">
              <a:defRPr sz="1100" i="0" b="1">
                <a:solidFill>
                  <a:srgbClr val="C53030"/>
                </a:solidFill>
              </a:defRPr>
            </a:pPr>
            <a:r>
              <a:t>(1) האנליטיקה איטית: התור תופח, הברוקר מגיע לסף הזיכרון וחוסם את היצרנים – וגם המחסן, שבריא לגמרי, מורעב. הפתרון: prefetch נמוך.</a:t>
            </a:r>
          </a:p>
          <a:p>
            <a:pPr algn="r" rtl="1">
              <a:defRPr sz="1100" i="0" b="1">
                <a:solidFill>
                  <a:srgbClr val="C53030"/>
                </a:solidFill>
              </a:defRPr>
            </a:pPr>
            <a:r>
              <a:t>(2) ה-SMS נכשל שוב ושוב: ההודעה חוזרת לתור וחוסמת את מה שמאחוריה. הפתרון: DLQ – תור צדדי, והתראה.</a:t>
            </a:r>
          </a:p>
          <a:p>
            <a:pPr algn="r" rtl="1">
              <a:defRPr sz="1100" i="0" b="1">
                <a:solidFill>
                  <a:srgbClr val="C53030"/>
                </a:solidFill>
              </a:defRPr>
            </a:pPr>
            <a:r>
              <a:t>(3) ה-Worker חייב את הכרטיס ומת לפני ה-ack: הברוקר ישלח שוב, והלקוח יחויב פעמיים. זו ברירת המחדל at-least-once – ולכן כל צרכן חייב להיות אידמפוטנטי.</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none">
            <a:spAutoFit/>
          </a:bodyPr>
          <a:lstStyle/>
          <a:p>
            <a:pPr algn="r" rtl="1">
              <a:defRPr sz="2800" b="1">
                <a:solidFill>
                  <a:srgbClr val="14233C"/>
                </a:solidFill>
              </a:defRPr>
            </a:pPr>
            <a:r>
              <a:t>השוואה: מתי בוחרים במה</a:t>
            </a:r>
          </a:p>
        </p:txBody>
      </p:sp>
      <p:graphicFrame>
        <p:nvGraphicFramePr>
          <p:cNvPr id="3" name="Table 2"/>
          <p:cNvGraphicFramePr>
            <a:graphicFrameLocks noGrp="1"/>
          </p:cNvGraphicFramePr>
          <p:nvPr/>
        </p:nvGraphicFramePr>
        <p:xfrm>
          <a:off x="640080" y="1371600"/>
          <a:ext cx="10911535" cy="3291840"/>
        </p:xfrm>
        <a:graphic>
          <a:graphicData uri="http://schemas.openxmlformats.org/drawingml/2006/table">
            <a:tbl>
              <a:tblPr firstRow="1" bandRow="1">
                <a:tableStyleId>{5C22544A-7EE6-4342-B048-85BDC9FD1C3A}</a:tableStyleId>
              </a:tblPr>
              <a:tblGrid>
                <a:gridCol w="3637178"/>
                <a:gridCol w="3637178"/>
                <a:gridCol w="3637179"/>
              </a:tblGrid>
              <a:tr h="822960">
                <a:tc>
                  <a:txBody>
                    <a:bodyPr/>
                    <a:lstStyle/>
                    <a:p>
                      <a:pPr algn="r" rtl="1">
                        <a:defRPr sz="1700" b="1">
                          <a:solidFill>
                            <a:srgbClr val="FFFFFF"/>
                          </a:solidFill>
                        </a:defRPr>
                      </a:pPr>
                      <a:r>
                        <a:t>ה-Trade-off</a:t>
                      </a:r>
                    </a:p>
                  </a:txBody>
                  <a:tcPr>
                    <a:solidFill>
                      <a:srgbClr val="14233C"/>
                    </a:solidFill>
                  </a:tcPr>
                </a:tc>
                <a:tc>
                  <a:txBody>
                    <a:bodyPr/>
                    <a:lstStyle/>
                    <a:p>
                      <a:pPr algn="r" rtl="1">
                        <a:defRPr sz="1700" b="1">
                          <a:solidFill>
                            <a:srgbClr val="FFFFFF"/>
                          </a:solidFill>
                        </a:defRPr>
                      </a:pPr>
                      <a:r>
                        <a:t>בוחרים בה כאשר...</a:t>
                      </a:r>
                    </a:p>
                  </a:txBody>
                  <a:tcPr>
                    <a:solidFill>
                      <a:srgbClr val="14233C"/>
                    </a:solidFill>
                  </a:tcPr>
                </a:tc>
                <a:tc>
                  <a:txBody>
                    <a:bodyPr/>
                    <a:lstStyle/>
                    <a:p>
                      <a:pPr algn="r" rtl="1">
                        <a:defRPr sz="1700" b="1">
                          <a:solidFill>
                            <a:srgbClr val="FFFFFF"/>
                          </a:solidFill>
                        </a:defRPr>
                      </a:pPr>
                      <a:r>
                        <a:t>אסטרטגיה</a:t>
                      </a:r>
                    </a:p>
                  </a:txBody>
                  <a:tcPr>
                    <a:solidFill>
                      <a:srgbClr val="14233C"/>
                    </a:solidFill>
                  </a:tcPr>
                </a:tc>
              </a:tr>
              <a:tr h="822960">
                <a:tc>
                  <a:txBody>
                    <a:bodyPr/>
                    <a:lstStyle/>
                    <a:p>
                      <a:pPr algn="r" rtl="1">
                        <a:defRPr sz="1700">
                          <a:solidFill>
                            <a:srgbClr val="282828"/>
                          </a:solidFill>
                        </a:defRPr>
                      </a:pPr>
                      <a:r>
                        <a:t>צימוד לשם התור; הסדר נשבר בהרחבה</a:t>
                      </a:r>
                    </a:p>
                  </a:txBody>
                  <a:tcPr/>
                </a:tc>
                <a:tc>
                  <a:txBody>
                    <a:bodyPr/>
                    <a:lstStyle/>
                    <a:p>
                      <a:pPr algn="r" rtl="1">
                        <a:defRPr sz="1700">
                          <a:solidFill>
                            <a:srgbClr val="282828"/>
                          </a:solidFill>
                        </a:defRPr>
                      </a:pPr>
                      <a:r>
                        <a:t>יש נמען אחד ברור לעבודה</a:t>
                      </a:r>
                    </a:p>
                  </a:txBody>
                  <a:tcPr/>
                </a:tc>
                <a:tc>
                  <a:txBody>
                    <a:bodyPr/>
                    <a:lstStyle/>
                    <a:p>
                      <a:pPr algn="r">
                        <a:defRPr sz="1700">
                          <a:solidFill>
                            <a:srgbClr val="282828"/>
                          </a:solidFill>
                        </a:defRPr>
                      </a:pPr>
                      <a:r>
                        <a:t>Direct</a:t>
                      </a:r>
                    </a:p>
                  </a:txBody>
                  <a:tcPr/>
                </a:tc>
              </a:tr>
              <a:tr h="822960">
                <a:tc>
                  <a:txBody>
                    <a:bodyPr/>
                    <a:lstStyle/>
                    <a:p>
                      <a:pPr algn="r" rtl="1">
                        <a:defRPr sz="1700">
                          <a:solidFill>
                            <a:srgbClr val="282828"/>
                          </a:solidFill>
                        </a:defRPr>
                      </a:pPr>
                      <a:r>
                        <a:t>כל מנוי נוסף מכפיל את עלות הכתיבה</a:t>
                      </a:r>
                    </a:p>
                  </a:txBody>
                  <a:tcPr/>
                </a:tc>
                <a:tc>
                  <a:txBody>
                    <a:bodyPr/>
                    <a:lstStyle/>
                    <a:p>
                      <a:pPr algn="r" rtl="1">
                        <a:defRPr sz="1700">
                          <a:solidFill>
                            <a:srgbClr val="282828"/>
                          </a:solidFill>
                        </a:defRPr>
                      </a:pPr>
                      <a:r>
                        <a:t>כולם צריכים לדעת, ואינכם יודעים מי 'כולם'</a:t>
                      </a:r>
                    </a:p>
                  </a:txBody>
                  <a:tcPr/>
                </a:tc>
                <a:tc>
                  <a:txBody>
                    <a:bodyPr/>
                    <a:lstStyle/>
                    <a:p>
                      <a:pPr algn="r">
                        <a:defRPr sz="1700">
                          <a:solidFill>
                            <a:srgbClr val="282828"/>
                          </a:solidFill>
                        </a:defRPr>
                      </a:pPr>
                      <a:r>
                        <a:t>Fanout</a:t>
                      </a:r>
                    </a:p>
                  </a:txBody>
                  <a:tcPr/>
                </a:tc>
              </a:tr>
              <a:tr h="822960">
                <a:tc>
                  <a:txBody>
                    <a:bodyPr/>
                    <a:lstStyle/>
                    <a:p>
                      <a:pPr algn="r" rtl="1">
                        <a:defRPr sz="1700">
                          <a:solidFill>
                            <a:srgbClr val="282828"/>
                          </a:solidFill>
                        </a:defRPr>
                      </a:pPr>
                      <a:r>
                        <a:t>מוסכמת השמות הופכת לחוזה נוקשה</a:t>
                      </a:r>
                    </a:p>
                  </a:txBody>
                  <a:tcPr/>
                </a:tc>
                <a:tc>
                  <a:txBody>
                    <a:bodyPr/>
                    <a:lstStyle/>
                    <a:p>
                      <a:pPr algn="r" rtl="1">
                        <a:defRPr sz="1700">
                          <a:solidFill>
                            <a:srgbClr val="282828"/>
                          </a:solidFill>
                        </a:defRPr>
                      </a:pPr>
                      <a:r>
                        <a:t>לאירועים יש היררכיה טבעית (אזור, חומרה, סוג)</a:t>
                      </a:r>
                    </a:p>
                  </a:txBody>
                  <a:tcPr/>
                </a:tc>
                <a:tc>
                  <a:txBody>
                    <a:bodyPr/>
                    <a:lstStyle/>
                    <a:p>
                      <a:pPr algn="r">
                        <a:defRPr sz="1700">
                          <a:solidFill>
                            <a:srgbClr val="282828"/>
                          </a:solidFill>
                        </a:defRPr>
                      </a:pPr>
                      <a:r>
                        <a:t>Topic</a:t>
                      </a:r>
                    </a:p>
                  </a:txBody>
                  <a:tcPr/>
                </a:tc>
              </a:tr>
            </a:tbl>
          </a:graphicData>
        </a:graphic>
      </p:graphicFrame>
      <p:sp>
        <p:nvSpPr>
          <p:cNvPr id="4" name="TextBox 3"/>
          <p:cNvSpPr txBox="1"/>
          <p:nvPr/>
        </p:nvSpPr>
        <p:spPr>
          <a:xfrm>
            <a:off x="640080" y="4937760"/>
            <a:ext cx="10911535" cy="822960"/>
          </a:xfrm>
          <a:prstGeom prst="rect">
            <a:avLst/>
          </a:prstGeom>
          <a:noFill/>
        </p:spPr>
        <p:txBody>
          <a:bodyPr wrap="square">
            <a:spAutoFit/>
          </a:bodyPr>
          <a:lstStyle/>
          <a:p>
            <a:pPr algn="r" rtl="1">
              <a:defRPr sz="1500" i="1">
                <a:solidFill>
                  <a:srgbClr val="007AFF"/>
                </a:solidFill>
              </a:defRPr>
            </a:pPr>
            <a:r>
              <a:t>כלל האצבע: בחרו את הפשוטה ביותר שעונה על הדרישה. לעלות ברמת התחכום תמיד אפשר – לרדת ממנה, אחרי שכבר יש מנויים בפרודקשן, זה כבר פרויקט.</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822960"/>
          </a:xfrm>
          <a:prstGeom prst="rect">
            <a:avLst/>
          </a:prstGeom>
          <a:noFill/>
        </p:spPr>
        <p:txBody>
          <a:bodyPr wrap="none">
            <a:spAutoFit/>
          </a:bodyPr>
          <a:lstStyle/>
          <a:p>
            <a:pPr algn="r" rtl="1">
              <a:defRPr sz="2800" b="1">
                <a:solidFill>
                  <a:srgbClr val="14233C"/>
                </a:solidFill>
              </a:defRPr>
            </a:pPr>
            <a:r>
              <a:t>סיכום</a:t>
            </a:r>
          </a:p>
        </p:txBody>
      </p:sp>
      <p:sp>
        <p:nvSpPr>
          <p:cNvPr id="3" name="TextBox 2"/>
          <p:cNvSpPr txBox="1"/>
          <p:nvPr/>
        </p:nvSpPr>
        <p:spPr>
          <a:xfrm>
            <a:off x="640080" y="1737360"/>
            <a:ext cx="10911535" cy="3840480"/>
          </a:xfrm>
          <a:prstGeom prst="rect">
            <a:avLst/>
          </a:prstGeom>
          <a:noFill/>
        </p:spPr>
        <p:txBody>
          <a:bodyPr wrap="square">
            <a:spAutoFit/>
          </a:bodyPr>
          <a:lstStyle/>
          <a:p>
            <a:pPr algn="r" rtl="1">
              <a:spcAft>
                <a:spcPts val="1800"/>
              </a:spcAft>
              <a:defRPr sz="2100">
                <a:solidFill>
                  <a:srgbClr val="282828"/>
                </a:solidFill>
              </a:defRPr>
            </a:pPr>
            <a:r>
              <a:t>1. ככל שהברוקר מסתכל עמוק יותר במעטפה – הניתוב חכם יותר, ויקר יותר.</a:t>
            </a:r>
          </a:p>
          <a:p>
            <a:pPr algn="r" rtl="1">
              <a:spcAft>
                <a:spcPts val="1800"/>
              </a:spcAft>
              <a:defRPr sz="2100">
                <a:solidFill>
                  <a:srgbClr val="282828"/>
                </a:solidFill>
              </a:defRPr>
            </a:pPr>
            <a:r>
              <a:t>2. אלו לא חלופות מתחרות: הזמנה אחת מפעילה את שלושתן ברצף.</a:t>
            </a:r>
          </a:p>
          <a:p>
            <a:pPr algn="r" rtl="1">
              <a:spcAft>
                <a:spcPts val="1800"/>
              </a:spcAft>
              <a:defRPr sz="2100">
                <a:solidFill>
                  <a:srgbClr val="282828"/>
                </a:solidFill>
              </a:defRPr>
            </a:pPr>
            <a:r>
              <a:t>3. אסטרטגיית הניתוב קובעת גם סדר וגם כפילויות – ולכן כל צרכן חייב להיות אידמפוטנטי.</a:t>
            </a:r>
          </a:p>
          <a:p>
            <a:br/>
            <a:pPr algn="ctr" rtl="1">
              <a:defRPr sz="2200" b="1">
                <a:solidFill>
                  <a:srgbClr val="007AFF"/>
                </a:solidFill>
              </a:defRPr>
            </a:pPr>
            <a:r>
              <a:t>"ארכיטקטורת תוכנה טובה היא לא איך לחבר מערכות – אלא איך לנתק ביניהן בצורה חכמה."</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